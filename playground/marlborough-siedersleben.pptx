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67" r:id="rId2"/>
    <p:sldId id="396" r:id="rId3"/>
    <p:sldId id="390" r:id="rId4"/>
    <p:sldId id="389" r:id="rId5"/>
    <p:sldId id="395" r:id="rId6"/>
    <p:sldId id="387" r:id="rId7"/>
    <p:sldId id="373" r:id="rId8"/>
    <p:sldId id="393" r:id="rId9"/>
    <p:sldId id="386" r:id="rId10"/>
    <p:sldId id="372" r:id="rId11"/>
    <p:sldId id="388" r:id="rId12"/>
    <p:sldId id="382" r:id="rId13"/>
    <p:sldId id="383" r:id="rId14"/>
    <p:sldId id="394" r:id="rId15"/>
    <p:sldId id="384" r:id="rId16"/>
    <p:sldId id="392" r:id="rId17"/>
    <p:sldId id="385" r:id="rId18"/>
    <p:sldId id="391" r:id="rId19"/>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3" userDrawn="1">
          <p15:clr>
            <a:srgbClr val="A4A3A4"/>
          </p15:clr>
        </p15:guide>
        <p15:guide id="2" pos="35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52" autoAdjust="0"/>
  </p:normalViewPr>
  <p:slideViewPr>
    <p:cSldViewPr>
      <p:cViewPr varScale="1">
        <p:scale>
          <a:sx n="107" d="100"/>
          <a:sy n="107" d="100"/>
        </p:scale>
        <p:origin x="1662" y="78"/>
      </p:cViewPr>
      <p:guideLst>
        <p:guide orient="horz" pos="2523"/>
        <p:guide pos="351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4A1539-6F1C-482E-B0F8-ADFB0018FC26}" type="datetimeFigureOut">
              <a:rPr lang="de-DE" smtClean="0"/>
              <a:t>28.07.2017</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EE9A46-3E10-4A2E-88C2-A519EF109191}" type="slidenum">
              <a:rPr lang="de-DE" smtClean="0"/>
              <a:t>‹Nr.›</a:t>
            </a:fld>
            <a:endParaRPr lang="de-DE"/>
          </a:p>
        </p:txBody>
      </p:sp>
    </p:spTree>
    <p:extLst>
      <p:ext uri="{BB962C8B-B14F-4D97-AF65-F5344CB8AC3E}">
        <p14:creationId xmlns:p14="http://schemas.microsoft.com/office/powerpoint/2010/main" val="2004106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C9EE9A46-3E10-4A2E-88C2-A519EF109191}" type="slidenum">
              <a:rPr lang="de-DE" smtClean="0"/>
              <a:t>3</a:t>
            </a:fld>
            <a:endParaRPr lang="de-DE"/>
          </a:p>
        </p:txBody>
      </p:sp>
    </p:spTree>
    <p:extLst>
      <p:ext uri="{BB962C8B-B14F-4D97-AF65-F5344CB8AC3E}">
        <p14:creationId xmlns:p14="http://schemas.microsoft.com/office/powerpoint/2010/main" val="669677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C9EE9A46-3E10-4A2E-88C2-A519EF109191}" type="slidenum">
              <a:rPr lang="de-DE" smtClean="0"/>
              <a:t>4</a:t>
            </a:fld>
            <a:endParaRPr lang="de-DE"/>
          </a:p>
        </p:txBody>
      </p:sp>
    </p:spTree>
    <p:extLst>
      <p:ext uri="{BB962C8B-B14F-4D97-AF65-F5344CB8AC3E}">
        <p14:creationId xmlns:p14="http://schemas.microsoft.com/office/powerpoint/2010/main" val="2617012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smtClean="0"/>
          </a:p>
          <a:p>
            <a:r>
              <a:rPr lang="en-GB" baseline="0" dirty="0" smtClean="0"/>
              <a:t>The south of Europe was catholic, the north protestant.</a:t>
            </a:r>
          </a:p>
          <a:p>
            <a:r>
              <a:rPr lang="en-GB" baseline="0" dirty="0" smtClean="0"/>
              <a:t>France was by far the largest and most powerful country of Europe. </a:t>
            </a:r>
          </a:p>
          <a:p>
            <a:r>
              <a:rPr lang="en-GB" baseline="0" dirty="0" smtClean="0"/>
              <a:t>Louis XIV was an absolute ruler with huge resources. He was an expansionist.</a:t>
            </a:r>
          </a:p>
          <a:p>
            <a:endParaRPr lang="en-GB" baseline="0" dirty="0" smtClean="0"/>
          </a:p>
          <a:p>
            <a:r>
              <a:rPr lang="en-GB" baseline="0" dirty="0" smtClean="0"/>
              <a:t>There were the Spanish Hapsburgs and the Austrian ones.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The Austrian Hapsburgs ruled Austria and the Holy Roman Empire, a heterogeneous entity.</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They were threatened by France and by the Ottomans, however on the wane.</a:t>
            </a:r>
          </a:p>
          <a:p>
            <a:endParaRPr lang="en-GB" baseline="0" dirty="0" smtClean="0"/>
          </a:p>
          <a:p>
            <a:r>
              <a:rPr lang="en-GB" baseline="0" dirty="0" smtClean="0"/>
              <a:t>The Spanish showed clear symptoms of incest; Charles II was called the bewitched. He was completely unfit for his job and had no heir.</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Bone of contention: Spanish succession</a:t>
            </a:r>
          </a:p>
          <a:p>
            <a:r>
              <a:rPr lang="en-GB" dirty="0" smtClean="0"/>
              <a:t>Philipp V was grandson of Louis XIV. Nightmare of the Allies:</a:t>
            </a:r>
            <a:r>
              <a:rPr lang="en-GB" baseline="0" dirty="0" smtClean="0"/>
              <a:t> France and Spain united.</a:t>
            </a:r>
          </a:p>
          <a:p>
            <a:endParaRPr lang="en-GB" baseline="0" dirty="0" smtClean="0"/>
          </a:p>
        </p:txBody>
      </p:sp>
      <p:sp>
        <p:nvSpPr>
          <p:cNvPr id="4" name="Foliennummernplatzhalter 3"/>
          <p:cNvSpPr>
            <a:spLocks noGrp="1"/>
          </p:cNvSpPr>
          <p:nvPr>
            <p:ph type="sldNum" sz="quarter" idx="10"/>
          </p:nvPr>
        </p:nvSpPr>
        <p:spPr/>
        <p:txBody>
          <a:bodyPr/>
          <a:lstStyle/>
          <a:p>
            <a:fld id="{C9EE9A46-3E10-4A2E-88C2-A519EF109191}" type="slidenum">
              <a:rPr lang="de-DE" smtClean="0"/>
              <a:t>6</a:t>
            </a:fld>
            <a:endParaRPr lang="de-DE"/>
          </a:p>
        </p:txBody>
      </p:sp>
    </p:spTree>
    <p:extLst>
      <p:ext uri="{BB962C8B-B14F-4D97-AF65-F5344CB8AC3E}">
        <p14:creationId xmlns:p14="http://schemas.microsoft.com/office/powerpoint/2010/main" val="2476107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smtClean="0"/>
              <a:t>The</a:t>
            </a:r>
            <a:r>
              <a:rPr lang="en-GB" baseline="0" dirty="0" smtClean="0"/>
              <a:t> age of enlightenment saw an almost uninterrupted chain of wars. Had they nothing better to do?</a:t>
            </a:r>
            <a:endParaRPr lang="en-GB" dirty="0"/>
          </a:p>
        </p:txBody>
      </p:sp>
      <p:sp>
        <p:nvSpPr>
          <p:cNvPr id="4" name="Foliennummernplatzhalter 3"/>
          <p:cNvSpPr>
            <a:spLocks noGrp="1"/>
          </p:cNvSpPr>
          <p:nvPr>
            <p:ph type="sldNum" sz="quarter" idx="10"/>
          </p:nvPr>
        </p:nvSpPr>
        <p:spPr/>
        <p:txBody>
          <a:bodyPr/>
          <a:lstStyle/>
          <a:p>
            <a:fld id="{C9EE9A46-3E10-4A2E-88C2-A519EF109191}" type="slidenum">
              <a:rPr lang="de-DE" smtClean="0"/>
              <a:t>7</a:t>
            </a:fld>
            <a:endParaRPr lang="de-DE"/>
          </a:p>
        </p:txBody>
      </p:sp>
    </p:spTree>
    <p:extLst>
      <p:ext uri="{BB962C8B-B14F-4D97-AF65-F5344CB8AC3E}">
        <p14:creationId xmlns:p14="http://schemas.microsoft.com/office/powerpoint/2010/main" val="1373732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smtClean="0"/>
              <a:t>A common pattern: The next in line unite against the first in order to prevent him from becoming to powerful.</a:t>
            </a:r>
          </a:p>
          <a:p>
            <a:r>
              <a:rPr lang="en-GB" dirty="0" smtClean="0"/>
              <a:t>The first in line was</a:t>
            </a:r>
            <a:r>
              <a:rPr lang="en-GB" baseline="0" dirty="0" smtClean="0"/>
              <a:t> no doubt France.</a:t>
            </a:r>
            <a:endParaRPr lang="en-GB" dirty="0" smtClean="0"/>
          </a:p>
          <a:p>
            <a:endParaRPr lang="en-GB" dirty="0" smtClean="0"/>
          </a:p>
          <a:p>
            <a:r>
              <a:rPr lang="en-GB" dirty="0" smtClean="0"/>
              <a:t>Austria and Spain were supporting</a:t>
            </a:r>
            <a:r>
              <a:rPr lang="en-GB" baseline="0" dirty="0" smtClean="0"/>
              <a:t> a Protestant usurper against a rightful Catholic king.</a:t>
            </a:r>
          </a:p>
          <a:p>
            <a:r>
              <a:rPr lang="en-GB" baseline="0" dirty="0" smtClean="0"/>
              <a:t>France was to be cut down to size, its growing power, its arrogance restrained.</a:t>
            </a:r>
          </a:p>
          <a:p>
            <a:r>
              <a:rPr lang="en-GB" baseline="0" dirty="0" smtClean="0"/>
              <a:t>The wars were long drawn-out and expensive.</a:t>
            </a:r>
          </a:p>
          <a:p>
            <a:endParaRPr lang="en-GB" baseline="0" dirty="0" smtClean="0"/>
          </a:p>
          <a:p>
            <a:r>
              <a:rPr lang="en-GB" baseline="0" dirty="0" smtClean="0"/>
              <a:t>Threat: James II as French puppet king, France and England one huge political entity, France extending into Germany, the Netherlands and Spain</a:t>
            </a:r>
          </a:p>
          <a:p>
            <a:r>
              <a:rPr lang="en-GB" baseline="0" dirty="0" smtClean="0"/>
              <a:t>Main outcome of the Nine Years War: Louis XIV recognised William II as legitimate king of England and promised not to help any of England’s enemies</a:t>
            </a:r>
          </a:p>
          <a:p>
            <a:r>
              <a:rPr lang="en-GB" baseline="0" dirty="0" smtClean="0"/>
              <a:t>The allies were held together by William, the enemy was Louis XIV. One huge army is an advantage over an alliance of several armies often in disaccord with each other.</a:t>
            </a:r>
          </a:p>
          <a:p>
            <a:endParaRPr lang="en-GB" baseline="0" dirty="0" smtClean="0"/>
          </a:p>
          <a:p>
            <a:r>
              <a:rPr lang="en-GB" baseline="0" dirty="0" smtClean="0"/>
              <a:t>Threat: France and Spain one huge political entity, to be united later on by family links as was England and Scotland; France extending into Germany and the Netherlands.</a:t>
            </a:r>
          </a:p>
          <a:p>
            <a:r>
              <a:rPr lang="en-GB" baseline="0" dirty="0" smtClean="0"/>
              <a:t>Main outcome of the War of the Spanish Succession: Phillip V, Louis XIV’s grandson was recognized as legitimate King of Spain, but renounced forever on any claim to the French throne</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The allies were held together by Marlborough, the enemy was again Louis XIV. Again, France had the advantage of being one big entity.</a:t>
            </a:r>
          </a:p>
          <a:p>
            <a:endParaRPr lang="en-GB" dirty="0"/>
          </a:p>
        </p:txBody>
      </p:sp>
      <p:sp>
        <p:nvSpPr>
          <p:cNvPr id="4" name="Foliennummernplatzhalter 3"/>
          <p:cNvSpPr>
            <a:spLocks noGrp="1"/>
          </p:cNvSpPr>
          <p:nvPr>
            <p:ph type="sldNum" sz="quarter" idx="10"/>
          </p:nvPr>
        </p:nvSpPr>
        <p:spPr/>
        <p:txBody>
          <a:bodyPr/>
          <a:lstStyle/>
          <a:p>
            <a:fld id="{C9EE9A46-3E10-4A2E-88C2-A519EF109191}" type="slidenum">
              <a:rPr lang="de-DE" smtClean="0"/>
              <a:t>8</a:t>
            </a:fld>
            <a:endParaRPr lang="de-DE"/>
          </a:p>
        </p:txBody>
      </p:sp>
    </p:spTree>
    <p:extLst>
      <p:ext uri="{BB962C8B-B14F-4D97-AF65-F5344CB8AC3E}">
        <p14:creationId xmlns:p14="http://schemas.microsoft.com/office/powerpoint/2010/main" val="818355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C9EE9A46-3E10-4A2E-88C2-A519EF109191}" type="slidenum">
              <a:rPr lang="de-DE" smtClean="0"/>
              <a:t>9</a:t>
            </a:fld>
            <a:endParaRPr lang="de-DE"/>
          </a:p>
        </p:txBody>
      </p:sp>
    </p:spTree>
    <p:extLst>
      <p:ext uri="{BB962C8B-B14F-4D97-AF65-F5344CB8AC3E}">
        <p14:creationId xmlns:p14="http://schemas.microsoft.com/office/powerpoint/2010/main" val="1576423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10</a:t>
            </a:fld>
            <a:endParaRPr lang="de-DE"/>
          </a:p>
        </p:txBody>
      </p:sp>
    </p:spTree>
    <p:extLst>
      <p:ext uri="{BB962C8B-B14F-4D97-AF65-F5344CB8AC3E}">
        <p14:creationId xmlns:p14="http://schemas.microsoft.com/office/powerpoint/2010/main" val="1381076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11</a:t>
            </a:fld>
            <a:endParaRPr lang="de-DE"/>
          </a:p>
        </p:txBody>
      </p:sp>
    </p:spTree>
    <p:extLst>
      <p:ext uri="{BB962C8B-B14F-4D97-AF65-F5344CB8AC3E}">
        <p14:creationId xmlns:p14="http://schemas.microsoft.com/office/powerpoint/2010/main" val="4001643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12</a:t>
            </a:fld>
            <a:endParaRPr lang="de-DE"/>
          </a:p>
        </p:txBody>
      </p:sp>
    </p:spTree>
    <p:extLst>
      <p:ext uri="{BB962C8B-B14F-4D97-AF65-F5344CB8AC3E}">
        <p14:creationId xmlns:p14="http://schemas.microsoft.com/office/powerpoint/2010/main" val="3972828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13</a:t>
            </a:fld>
            <a:endParaRPr lang="de-DE"/>
          </a:p>
        </p:txBody>
      </p:sp>
    </p:spTree>
    <p:extLst>
      <p:ext uri="{BB962C8B-B14F-4D97-AF65-F5344CB8AC3E}">
        <p14:creationId xmlns:p14="http://schemas.microsoft.com/office/powerpoint/2010/main" val="287690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14</a:t>
            </a:fld>
            <a:endParaRPr lang="de-DE"/>
          </a:p>
        </p:txBody>
      </p:sp>
    </p:spTree>
    <p:extLst>
      <p:ext uri="{BB962C8B-B14F-4D97-AF65-F5344CB8AC3E}">
        <p14:creationId xmlns:p14="http://schemas.microsoft.com/office/powerpoint/2010/main" val="3524900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15</a:t>
            </a:fld>
            <a:endParaRPr lang="de-DE"/>
          </a:p>
        </p:txBody>
      </p:sp>
    </p:spTree>
    <p:extLst>
      <p:ext uri="{BB962C8B-B14F-4D97-AF65-F5344CB8AC3E}">
        <p14:creationId xmlns:p14="http://schemas.microsoft.com/office/powerpoint/2010/main" val="1614319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16</a:t>
            </a:fld>
            <a:endParaRPr lang="de-DE"/>
          </a:p>
        </p:txBody>
      </p:sp>
    </p:spTree>
    <p:extLst>
      <p:ext uri="{BB962C8B-B14F-4D97-AF65-F5344CB8AC3E}">
        <p14:creationId xmlns:p14="http://schemas.microsoft.com/office/powerpoint/2010/main" val="3194374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9EE9A46-3E10-4A2E-88C2-A519EF109191}" type="slidenum">
              <a:rPr lang="de-DE" smtClean="0"/>
              <a:t>17</a:t>
            </a:fld>
            <a:endParaRPr lang="de-DE"/>
          </a:p>
        </p:txBody>
      </p:sp>
    </p:spTree>
    <p:extLst>
      <p:ext uri="{BB962C8B-B14F-4D97-AF65-F5344CB8AC3E}">
        <p14:creationId xmlns:p14="http://schemas.microsoft.com/office/powerpoint/2010/main" val="3073882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A6929DD5-F1D1-4CDA-8527-4AF8825A468E}" type="datetime1">
              <a:rPr lang="de-DE" smtClean="0"/>
              <a:t>28.07.2017</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57C6C2E8-AB8C-4D19-B7A8-5386C7694783}" type="datetime1">
              <a:rPr lang="de-DE" smtClean="0"/>
              <a:t>28.07.2017</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Textmasterformate durch Klicken bearbeiten</a:t>
            </a:r>
          </a:p>
        </p:txBody>
      </p:sp>
      <p:sp>
        <p:nvSpPr>
          <p:cNvPr id="4" name="Datumsplatzhalter 3"/>
          <p:cNvSpPr>
            <a:spLocks noGrp="1"/>
          </p:cNvSpPr>
          <p:nvPr>
            <p:ph type="dt" sz="half" idx="10"/>
          </p:nvPr>
        </p:nvSpPr>
        <p:spPr/>
        <p:txBody>
          <a:bodyPr/>
          <a:lstStyle/>
          <a:p>
            <a:fld id="{6194E901-9EF1-40F6-9F49-AC2A4FE29978}" type="datetime1">
              <a:rPr lang="de-DE" smtClean="0"/>
              <a:t>28.07.2017</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ABFFCC68-12FF-49FA-9FDD-7F1A95F9160E}" type="datetime1">
              <a:rPr lang="de-DE" smtClean="0"/>
              <a:t>28.07.2017</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80E3EA1E-4314-48B7-BB48-06B1DCCFA5E4}" type="datetime1">
              <a:rPr lang="de-DE" smtClean="0"/>
              <a:t>28.07.2017</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923094F0-148A-4EA4-B0A7-E3C9C12719E7}" type="datetime1">
              <a:rPr lang="de-DE" smtClean="0"/>
              <a:t>28.07.2017</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6801CC31-EE53-4431-91B2-017AFFD4F8F5}" type="datetime1">
              <a:rPr lang="de-DE" smtClean="0"/>
              <a:t>28.07.2017</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Textmasterformate durch Klicken bearbeiten</a:t>
            </a:r>
          </a:p>
        </p:txBody>
      </p:sp>
      <p:sp>
        <p:nvSpPr>
          <p:cNvPr id="5" name="Datumsplatzhalter 4"/>
          <p:cNvSpPr>
            <a:spLocks noGrp="1"/>
          </p:cNvSpPr>
          <p:nvPr>
            <p:ph type="dt" sz="half" idx="10"/>
          </p:nvPr>
        </p:nvSpPr>
        <p:spPr/>
        <p:txBody>
          <a:bodyPr/>
          <a:lstStyle/>
          <a:p>
            <a:fld id="{E129136D-2CFA-451B-8F18-FE4072AEC328}" type="datetime1">
              <a:rPr lang="de-DE" smtClean="0"/>
              <a:t>28.07.2017</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Textmasterformate durch Klicken bearbeiten</a:t>
            </a:r>
          </a:p>
        </p:txBody>
      </p:sp>
      <p:sp>
        <p:nvSpPr>
          <p:cNvPr id="5" name="Datumsplatzhalter 4"/>
          <p:cNvSpPr>
            <a:spLocks noGrp="1"/>
          </p:cNvSpPr>
          <p:nvPr>
            <p:ph type="dt" sz="half" idx="10"/>
          </p:nvPr>
        </p:nvSpPr>
        <p:spPr/>
        <p:txBody>
          <a:bodyPr/>
          <a:lstStyle/>
          <a:p>
            <a:fld id="{57D8D588-16BA-484F-B24F-D4F9C6BF639E}" type="datetime1">
              <a:rPr lang="de-DE" smtClean="0"/>
              <a:t>28.07.2017</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716B1D23-46C7-4E00-9DF4-16B5F1C3A5FB}" type="datetime1">
              <a:rPr lang="de-DE" smtClean="0"/>
              <a:t>28.07.2017</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lang="de-DE" smtClean="0"/>
              <a:t>Titel durch Klicken hinzufügen</a:t>
            </a:r>
            <a:endParaRPr lang="de-DE"/>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B88FECD3-ABFB-4A66-8BFB-87495A2B2A24}" type="datetime1">
              <a:rPr lang="de-DE" smtClean="0"/>
              <a:t>28.07.2017</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C6AE60A-B69C-4790-82F7-3882EDF23186}" type="slidenum">
              <a:rPr lang="de-DE" smtClean="0"/>
              <a:t>‹Nr.›</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417B2-D7F1-4810-8485-8A05BDD5C220}" type="datetime1">
              <a:rPr lang="de-DE" smtClean="0"/>
              <a:t>28.07.2017</a:t>
            </a:fld>
            <a:endParaRPr lang="de-DE"/>
          </a:p>
        </p:txBody>
      </p:sp>
      <p:sp>
        <p:nvSpPr>
          <p:cNvPr id="5" name="Fußzeilenplatzhalt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6AE60A-B69C-4790-82F7-3882EDF23186}" type="slidenum">
              <a:rPr lang="de-DE" smtClean="0"/>
              <a:t>‹Nr.›</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1</a:t>
            </a:fld>
            <a:endParaRPr lang="de-DE" dirty="0"/>
          </a:p>
        </p:txBody>
      </p:sp>
      <p:pic>
        <p:nvPicPr>
          <p:cNvPr id="7" name="Grafik 6"/>
          <p:cNvPicPr>
            <a:picLocks noChangeAspect="1"/>
          </p:cNvPicPr>
          <p:nvPr/>
        </p:nvPicPr>
        <p:blipFill>
          <a:blip r:embed="rId2"/>
          <a:stretch>
            <a:fillRect/>
          </a:stretch>
        </p:blipFill>
        <p:spPr>
          <a:xfrm>
            <a:off x="1690775" y="477767"/>
            <a:ext cx="5762450" cy="5902466"/>
          </a:xfrm>
          <a:prstGeom prst="rect">
            <a:avLst/>
          </a:prstGeom>
        </p:spPr>
      </p:pic>
    </p:spTree>
    <p:extLst>
      <p:ext uri="{BB962C8B-B14F-4D97-AF65-F5344CB8AC3E}">
        <p14:creationId xmlns:p14="http://schemas.microsoft.com/office/powerpoint/2010/main" val="18335774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2</a:t>
            </a:fld>
            <a:endParaRPr lang="de-DE" dirty="0"/>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23"/>
            <a:ext cx="9144000" cy="6595478"/>
          </a:xfrm>
          <a:prstGeom prst="rect">
            <a:avLst/>
          </a:prstGeom>
        </p:spPr>
      </p:pic>
      <p:sp>
        <p:nvSpPr>
          <p:cNvPr id="4" name="Ellipse 3"/>
          <p:cNvSpPr/>
          <p:nvPr/>
        </p:nvSpPr>
        <p:spPr>
          <a:xfrm>
            <a:off x="4211960" y="4642710"/>
            <a:ext cx="756084" cy="514482"/>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10154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hteck 17"/>
          <p:cNvSpPr/>
          <p:nvPr/>
        </p:nvSpPr>
        <p:spPr>
          <a:xfrm>
            <a:off x="323528" y="2420888"/>
            <a:ext cx="4032448" cy="115212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oliennummernplatzhalter 5"/>
          <p:cNvSpPr>
            <a:spLocks noGrp="1"/>
          </p:cNvSpPr>
          <p:nvPr>
            <p:ph type="sldNum" sz="quarter" idx="12"/>
          </p:nvPr>
        </p:nvSpPr>
        <p:spPr>
          <a:xfrm>
            <a:off x="6553200" y="6592267"/>
            <a:ext cx="2133600" cy="365125"/>
          </a:xfrm>
        </p:spPr>
        <p:txBody>
          <a:bodyPr/>
          <a:lstStyle/>
          <a:p>
            <a:fld id="{6C6AE60A-B69C-4790-82F7-3882EDF23186}" type="slidenum">
              <a:rPr lang="de-DE" smtClean="0"/>
              <a:t>3</a:t>
            </a:fld>
            <a:endParaRPr lang="de-DE"/>
          </a:p>
        </p:txBody>
      </p:sp>
      <p:sp>
        <p:nvSpPr>
          <p:cNvPr id="4" name="Textfeld 3"/>
          <p:cNvSpPr txBox="1"/>
          <p:nvPr/>
        </p:nvSpPr>
        <p:spPr>
          <a:xfrm>
            <a:off x="251520" y="512638"/>
            <a:ext cx="3831498" cy="584775"/>
          </a:xfrm>
          <a:prstGeom prst="rect">
            <a:avLst/>
          </a:prstGeom>
          <a:noFill/>
        </p:spPr>
        <p:txBody>
          <a:bodyPr wrap="none" rtlCol="0">
            <a:spAutoFit/>
          </a:bodyPr>
          <a:lstStyle/>
          <a:p>
            <a:r>
              <a:rPr lang="en-GB" sz="3200" dirty="0" smtClean="0"/>
              <a:t>The Corsican Republic</a:t>
            </a:r>
            <a:endParaRPr lang="en-GB" sz="3200" dirty="0"/>
          </a:p>
        </p:txBody>
      </p:sp>
      <p:sp>
        <p:nvSpPr>
          <p:cNvPr id="9" name="Rechteck 8"/>
          <p:cNvSpPr/>
          <p:nvPr/>
        </p:nvSpPr>
        <p:spPr>
          <a:xfrm>
            <a:off x="334825" y="1340768"/>
            <a:ext cx="4381191" cy="5693866"/>
          </a:xfrm>
          <a:prstGeom prst="rect">
            <a:avLst/>
          </a:prstGeom>
        </p:spPr>
        <p:txBody>
          <a:bodyPr wrap="square">
            <a:spAutoFit/>
          </a:bodyPr>
          <a:lstStyle/>
          <a:p>
            <a:r>
              <a:rPr lang="en-GB" sz="1400" b="1" dirty="0" smtClean="0"/>
              <a:t>Genoese Rule 1559 – 1755</a:t>
            </a:r>
          </a:p>
          <a:p>
            <a:pPr marL="285750" indent="-285750">
              <a:buFont typeface="Arial" panose="020B0604020202020204" pitchFamily="34" charset="0"/>
              <a:buChar char="•"/>
            </a:pPr>
            <a:r>
              <a:rPr lang="en-GB" sz="1400" dirty="0" smtClean="0"/>
              <a:t>The Genoese built 85 towers all around the island</a:t>
            </a:r>
          </a:p>
          <a:p>
            <a:pPr marL="285750" indent="-285750">
              <a:buFont typeface="Arial" panose="020B0604020202020204" pitchFamily="34" charset="0"/>
              <a:buChar char="•"/>
            </a:pPr>
            <a:r>
              <a:rPr lang="en-GB" sz="1400" dirty="0" smtClean="0"/>
              <a:t>They provided some protection against the pirates</a:t>
            </a:r>
            <a:endParaRPr lang="en-GB" sz="1400" dirty="0"/>
          </a:p>
          <a:p>
            <a:pPr marL="285750" indent="-285750">
              <a:buFont typeface="Arial" panose="020B0604020202020204" pitchFamily="34" charset="0"/>
              <a:buChar char="•"/>
            </a:pPr>
            <a:r>
              <a:rPr lang="en-GB" sz="1400" dirty="0" smtClean="0"/>
              <a:t>Uprisings since 1729</a:t>
            </a:r>
          </a:p>
          <a:p>
            <a:endParaRPr lang="en-US" sz="1400" dirty="0" smtClean="0"/>
          </a:p>
          <a:p>
            <a:r>
              <a:rPr lang="en-US" sz="1400" b="1" dirty="0" smtClean="0"/>
              <a:t>Corsican Republic 1755 -- 1769</a:t>
            </a:r>
          </a:p>
          <a:p>
            <a:pPr marL="285750" indent="-285750">
              <a:buFont typeface="Arial" panose="020B0604020202020204" pitchFamily="34" charset="0"/>
              <a:buChar char="•"/>
            </a:pPr>
            <a:r>
              <a:rPr lang="en-US" sz="1400" dirty="0" smtClean="0"/>
              <a:t>First democratic constitution in the world, written mainly by Pasquale Paoli, based on Locke’s ideas.</a:t>
            </a:r>
          </a:p>
          <a:p>
            <a:pPr marL="285750" indent="-285750">
              <a:buFont typeface="Arial" panose="020B0604020202020204" pitchFamily="34" charset="0"/>
              <a:buChar char="•"/>
            </a:pPr>
            <a:r>
              <a:rPr lang="en-US" sz="1400" dirty="0" smtClean="0"/>
              <a:t>Universal suffrage for all male over 25</a:t>
            </a:r>
          </a:p>
          <a:p>
            <a:pPr marL="285750" indent="-285750">
              <a:buFont typeface="Arial" panose="020B0604020202020204" pitchFamily="34" charset="0"/>
              <a:buChar char="•"/>
            </a:pPr>
            <a:r>
              <a:rPr lang="en-US" sz="1400" dirty="0" smtClean="0"/>
              <a:t>Restricted suffrage for women</a:t>
            </a:r>
          </a:p>
          <a:p>
            <a:endParaRPr lang="en-US" sz="1400" dirty="0" smtClean="0"/>
          </a:p>
          <a:p>
            <a:r>
              <a:rPr lang="en-US" sz="1400" b="1" dirty="0" smtClean="0"/>
              <a:t>French rule (1769 – today)</a:t>
            </a:r>
          </a:p>
          <a:p>
            <a:pPr marL="285750" indent="-285750">
              <a:buFont typeface="Arial" panose="020B0604020202020204" pitchFamily="34" charset="0"/>
              <a:buChar char="•"/>
            </a:pPr>
            <a:r>
              <a:rPr lang="en-US" sz="1400" dirty="0" smtClean="0"/>
              <a:t>The French surrender Corsica</a:t>
            </a:r>
          </a:p>
          <a:p>
            <a:pPr marL="285750" indent="-285750">
              <a:buFont typeface="Arial" panose="020B0604020202020204" pitchFamily="34" charset="0"/>
              <a:buChar char="•"/>
            </a:pPr>
            <a:r>
              <a:rPr lang="en-US" sz="1400" dirty="0" smtClean="0"/>
              <a:t>Corsica part of France since 1769</a:t>
            </a:r>
          </a:p>
          <a:p>
            <a:pPr marL="285750" indent="-285750">
              <a:buFont typeface="Arial" panose="020B0604020202020204" pitchFamily="34" charset="0"/>
              <a:buChar char="•"/>
            </a:pPr>
            <a:r>
              <a:rPr lang="en-US" sz="1400" dirty="0" smtClean="0"/>
              <a:t>Napoleon born in Ajaccio in 1769</a:t>
            </a:r>
          </a:p>
          <a:p>
            <a:endParaRPr lang="en-US" sz="1400" dirty="0" smtClean="0"/>
          </a:p>
          <a:p>
            <a:r>
              <a:rPr lang="en-US" sz="1400" b="1" dirty="0" smtClean="0"/>
              <a:t>Pasquale Paoli (1725 – 1807)</a:t>
            </a:r>
          </a:p>
          <a:p>
            <a:pPr marL="285750" indent="-285750">
              <a:buFont typeface="Arial" panose="020B0604020202020204" pitchFamily="34" charset="0"/>
              <a:buChar char="•"/>
            </a:pPr>
            <a:r>
              <a:rPr lang="en-US" sz="1400" dirty="0" smtClean="0"/>
              <a:t>Exile in Britain from 1769 till 1790</a:t>
            </a:r>
          </a:p>
          <a:p>
            <a:pPr marL="285750" indent="-285750">
              <a:buFont typeface="Arial" panose="020B0604020202020204" pitchFamily="34" charset="0"/>
              <a:buChar char="•"/>
            </a:pPr>
            <a:r>
              <a:rPr lang="en-US" sz="1400" dirty="0" smtClean="0"/>
              <a:t>Returned to France to support the revolution</a:t>
            </a:r>
          </a:p>
          <a:p>
            <a:pPr marL="285750" indent="-285750">
              <a:buFont typeface="Arial" panose="020B0604020202020204" pitchFamily="34" charset="0"/>
              <a:buChar char="•"/>
            </a:pPr>
            <a:r>
              <a:rPr lang="en-US" sz="1400" dirty="0" smtClean="0"/>
              <a:t>Got into troubles with the revolutionaries and went into a second exile in Britain.</a:t>
            </a:r>
          </a:p>
          <a:p>
            <a:pPr marL="285750" indent="-285750">
              <a:buFont typeface="Arial" panose="020B0604020202020204" pitchFamily="34" charset="0"/>
              <a:buChar char="•"/>
            </a:pPr>
            <a:r>
              <a:rPr lang="en-US" sz="1400" dirty="0" smtClean="0"/>
              <a:t>Now in Corsica considered a saint. </a:t>
            </a:r>
          </a:p>
          <a:p>
            <a:pPr marL="285750" indent="-285750">
              <a:buFont typeface="Arial" panose="020B0604020202020204" pitchFamily="34" charset="0"/>
              <a:buChar char="•"/>
            </a:pPr>
            <a:endParaRPr lang="en-US" sz="1400" dirty="0"/>
          </a:p>
          <a:p>
            <a:endParaRPr lang="en-US" sz="1400" dirty="0"/>
          </a:p>
          <a:p>
            <a:endParaRPr lang="en-US" sz="1400" dirty="0"/>
          </a:p>
          <a:p>
            <a:endParaRPr lang="en-US" sz="1400" dirty="0" smtClean="0"/>
          </a:p>
        </p:txBody>
      </p:sp>
      <p:pic>
        <p:nvPicPr>
          <p:cNvPr id="11" name="Grafik 10"/>
          <p:cNvPicPr>
            <a:picLocks noChangeAspect="1"/>
          </p:cNvPicPr>
          <p:nvPr/>
        </p:nvPicPr>
        <p:blipFill>
          <a:blip r:embed="rId3"/>
          <a:stretch>
            <a:fillRect/>
          </a:stretch>
        </p:blipFill>
        <p:spPr>
          <a:xfrm>
            <a:off x="7372566" y="3448893"/>
            <a:ext cx="1771434" cy="2750244"/>
          </a:xfrm>
          <a:prstGeom prst="rect">
            <a:avLst/>
          </a:prstGeom>
        </p:spPr>
      </p:pic>
      <p:pic>
        <p:nvPicPr>
          <p:cNvPr id="12" name="Grafik 11"/>
          <p:cNvPicPr>
            <a:picLocks noChangeAspect="1"/>
          </p:cNvPicPr>
          <p:nvPr/>
        </p:nvPicPr>
        <p:blipFill>
          <a:blip r:embed="rId4"/>
          <a:stretch>
            <a:fillRect/>
          </a:stretch>
        </p:blipFill>
        <p:spPr>
          <a:xfrm>
            <a:off x="4644008" y="3460979"/>
            <a:ext cx="2591284" cy="2738158"/>
          </a:xfrm>
          <a:prstGeom prst="rect">
            <a:avLst/>
          </a:prstGeom>
        </p:spPr>
      </p:pic>
      <p:sp>
        <p:nvSpPr>
          <p:cNvPr id="13" name="Textfeld 12"/>
          <p:cNvSpPr txBox="1"/>
          <p:nvPr/>
        </p:nvSpPr>
        <p:spPr>
          <a:xfrm>
            <a:off x="7366654" y="6204591"/>
            <a:ext cx="1788182" cy="646331"/>
          </a:xfrm>
          <a:prstGeom prst="rect">
            <a:avLst/>
          </a:prstGeom>
          <a:noFill/>
        </p:spPr>
        <p:txBody>
          <a:bodyPr wrap="none" rtlCol="0">
            <a:spAutoFit/>
          </a:bodyPr>
          <a:lstStyle/>
          <a:p>
            <a:r>
              <a:rPr lang="en-GB" sz="1200" dirty="0" smtClean="0"/>
              <a:t>Paoli all over the place in </a:t>
            </a:r>
          </a:p>
          <a:p>
            <a:r>
              <a:rPr lang="en-GB" sz="1200" dirty="0" smtClean="0"/>
              <a:t>Corsica</a:t>
            </a:r>
            <a:endParaRPr lang="en-GB" sz="1200" dirty="0"/>
          </a:p>
          <a:p>
            <a:r>
              <a:rPr lang="en-GB" sz="1200" dirty="0" smtClean="0"/>
              <a:t>(here: Ile Rousse, Corsica)</a:t>
            </a:r>
            <a:endParaRPr lang="en-GB" sz="1200" dirty="0"/>
          </a:p>
        </p:txBody>
      </p:sp>
      <p:sp>
        <p:nvSpPr>
          <p:cNvPr id="14" name="Rechteck 13"/>
          <p:cNvSpPr/>
          <p:nvPr/>
        </p:nvSpPr>
        <p:spPr>
          <a:xfrm>
            <a:off x="4605198" y="6230145"/>
            <a:ext cx="2304256" cy="461665"/>
          </a:xfrm>
          <a:prstGeom prst="rect">
            <a:avLst/>
          </a:prstGeom>
        </p:spPr>
        <p:txBody>
          <a:bodyPr wrap="square">
            <a:spAutoFit/>
          </a:bodyPr>
          <a:lstStyle/>
          <a:p>
            <a:r>
              <a:rPr lang="en-US" sz="1200" dirty="0"/>
              <a:t>Cenotaph of Pasquale Paoli, </a:t>
            </a:r>
            <a:endParaRPr lang="en-US" sz="1200" dirty="0" smtClean="0"/>
          </a:p>
          <a:p>
            <a:r>
              <a:rPr lang="en-US" sz="1200" dirty="0" smtClean="0"/>
              <a:t>at </a:t>
            </a:r>
            <a:r>
              <a:rPr lang="en-US" sz="1200" b="1" dirty="0"/>
              <a:t>Westminster </a:t>
            </a:r>
            <a:r>
              <a:rPr lang="en-US" sz="1200" b="1" dirty="0" smtClean="0"/>
              <a:t>Abbey</a:t>
            </a:r>
            <a:endParaRPr lang="en-GB" sz="1200" b="1" dirty="0"/>
          </a:p>
        </p:txBody>
      </p:sp>
      <p:pic>
        <p:nvPicPr>
          <p:cNvPr id="16" name="Grafik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0000" y="260648"/>
            <a:ext cx="2048634" cy="3072950"/>
          </a:xfrm>
          <a:prstGeom prst="rect">
            <a:avLst/>
          </a:prstGeom>
        </p:spPr>
      </p:pic>
      <p:pic>
        <p:nvPicPr>
          <p:cNvPr id="17" name="Grafik 16"/>
          <p:cNvPicPr>
            <a:picLocks noChangeAspect="1"/>
          </p:cNvPicPr>
          <p:nvPr/>
        </p:nvPicPr>
        <p:blipFill>
          <a:blip r:embed="rId6"/>
          <a:stretch>
            <a:fillRect/>
          </a:stretch>
        </p:blipFill>
        <p:spPr>
          <a:xfrm>
            <a:off x="6825807" y="260648"/>
            <a:ext cx="2318193" cy="2702049"/>
          </a:xfrm>
          <a:prstGeom prst="rect">
            <a:avLst/>
          </a:prstGeom>
        </p:spPr>
      </p:pic>
    </p:spTree>
    <p:extLst>
      <p:ext uri="{BB962C8B-B14F-4D97-AF65-F5344CB8AC3E}">
        <p14:creationId xmlns:p14="http://schemas.microsoft.com/office/powerpoint/2010/main" val="33426209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4</a:t>
            </a:fld>
            <a:endParaRPr lang="de-DE"/>
          </a:p>
        </p:txBody>
      </p:sp>
      <p:sp>
        <p:nvSpPr>
          <p:cNvPr id="8" name="Rechteck 7"/>
          <p:cNvSpPr/>
          <p:nvPr/>
        </p:nvSpPr>
        <p:spPr>
          <a:xfrm>
            <a:off x="395536" y="2060848"/>
            <a:ext cx="8493328" cy="738664"/>
          </a:xfrm>
          <a:prstGeom prst="rect">
            <a:avLst/>
          </a:prstGeom>
        </p:spPr>
        <p:txBody>
          <a:bodyPr wrap="square">
            <a:spAutoFit/>
          </a:bodyPr>
          <a:lstStyle/>
          <a:p>
            <a:pPr lvl="1"/>
            <a:endParaRPr lang="en-US" sz="1400" dirty="0" smtClean="0"/>
          </a:p>
          <a:p>
            <a:pPr marL="285750" indent="-285750">
              <a:buFont typeface="Arial" panose="020B0604020202020204" pitchFamily="34" charset="0"/>
              <a:buChar char="•"/>
            </a:pPr>
            <a:endParaRPr lang="en-US" sz="1400" dirty="0" smtClean="0"/>
          </a:p>
          <a:p>
            <a:endParaRPr lang="de-DE" sz="1400" dirty="0"/>
          </a:p>
        </p:txBody>
      </p:sp>
      <p:pic>
        <p:nvPicPr>
          <p:cNvPr id="2" name="Grafik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8680" y="0"/>
            <a:ext cx="5405320" cy="6858000"/>
          </a:xfrm>
          <a:prstGeom prst="rect">
            <a:avLst/>
          </a:prstGeom>
        </p:spPr>
      </p:pic>
      <p:sp>
        <p:nvSpPr>
          <p:cNvPr id="10" name="Textfeld 9"/>
          <p:cNvSpPr txBox="1"/>
          <p:nvPr/>
        </p:nvSpPr>
        <p:spPr>
          <a:xfrm>
            <a:off x="251520" y="332656"/>
            <a:ext cx="2850267" cy="3693319"/>
          </a:xfrm>
          <a:prstGeom prst="rect">
            <a:avLst/>
          </a:prstGeom>
          <a:noFill/>
        </p:spPr>
        <p:txBody>
          <a:bodyPr wrap="none" rtlCol="0">
            <a:spAutoFit/>
          </a:bodyPr>
          <a:lstStyle/>
          <a:p>
            <a:r>
              <a:rPr lang="en-US" dirty="0"/>
              <a:t>John </a:t>
            </a:r>
            <a:r>
              <a:rPr lang="en-US" dirty="0" smtClean="0"/>
              <a:t>Churchill</a:t>
            </a:r>
            <a:r>
              <a:rPr lang="en-US" dirty="0"/>
              <a:t> </a:t>
            </a:r>
            <a:r>
              <a:rPr lang="en-US" dirty="0" smtClean="0"/>
              <a:t>(1650 – 1722)</a:t>
            </a:r>
          </a:p>
          <a:p>
            <a:r>
              <a:rPr lang="en-US" dirty="0" smtClean="0"/>
              <a:t>1st </a:t>
            </a:r>
            <a:r>
              <a:rPr lang="en-US" dirty="0"/>
              <a:t>Duke of Marlborough </a:t>
            </a:r>
            <a:endParaRPr lang="en-US" dirty="0" smtClean="0"/>
          </a:p>
          <a:p>
            <a:r>
              <a:rPr lang="en-US" dirty="0" smtClean="0"/>
              <a:t>in triumph</a:t>
            </a:r>
            <a:r>
              <a:rPr lang="en-US" dirty="0"/>
              <a:t> </a:t>
            </a:r>
            <a:r>
              <a:rPr lang="en-US" dirty="0" smtClean="0"/>
              <a:t>(about 1704)</a:t>
            </a:r>
          </a:p>
          <a:p>
            <a:endParaRPr lang="en-US" dirty="0"/>
          </a:p>
          <a:p>
            <a:endParaRPr lang="en-US" dirty="0" smtClean="0"/>
          </a:p>
          <a:p>
            <a:endParaRPr lang="en-US" dirty="0"/>
          </a:p>
          <a:p>
            <a:endParaRPr lang="en-US" dirty="0" smtClean="0"/>
          </a:p>
          <a:p>
            <a:r>
              <a:rPr lang="en-US" dirty="0" smtClean="0"/>
              <a:t>OR</a:t>
            </a:r>
            <a:endParaRPr lang="en-US" dirty="0"/>
          </a:p>
          <a:p>
            <a:endParaRPr lang="en-US" dirty="0" smtClean="0"/>
          </a:p>
          <a:p>
            <a:endParaRPr lang="en-US" dirty="0"/>
          </a:p>
          <a:p>
            <a:endParaRPr lang="en-US" dirty="0" smtClean="0"/>
          </a:p>
          <a:p>
            <a:r>
              <a:rPr lang="de-DE" dirty="0"/>
              <a:t>Monsieur </a:t>
            </a:r>
            <a:r>
              <a:rPr lang="de-DE" dirty="0" err="1" smtClean="0"/>
              <a:t>Marlbrouck</a:t>
            </a:r>
            <a:r>
              <a:rPr lang="de-DE" dirty="0" smtClean="0"/>
              <a:t>,</a:t>
            </a:r>
          </a:p>
          <a:p>
            <a:r>
              <a:rPr lang="de-DE" dirty="0" smtClean="0"/>
              <a:t>Louis </a:t>
            </a:r>
            <a:r>
              <a:rPr lang="de-DE" dirty="0" err="1" smtClean="0"/>
              <a:t>XIV‘s</a:t>
            </a:r>
            <a:r>
              <a:rPr lang="de-DE" dirty="0" smtClean="0"/>
              <a:t> </a:t>
            </a:r>
            <a:r>
              <a:rPr lang="en-GB" dirty="0" smtClean="0"/>
              <a:t>nightmare</a:t>
            </a:r>
            <a:endParaRPr lang="en-GB" dirty="0"/>
          </a:p>
        </p:txBody>
      </p:sp>
    </p:spTree>
    <p:extLst>
      <p:ext uri="{BB962C8B-B14F-4D97-AF65-F5344CB8AC3E}">
        <p14:creationId xmlns:p14="http://schemas.microsoft.com/office/powerpoint/2010/main" val="24962980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5</a:t>
            </a:fld>
            <a:endParaRPr lang="de-DE"/>
          </a:p>
        </p:txBody>
      </p:sp>
      <p:sp>
        <p:nvSpPr>
          <p:cNvPr id="8" name="Rechteck 7"/>
          <p:cNvSpPr/>
          <p:nvPr/>
        </p:nvSpPr>
        <p:spPr>
          <a:xfrm>
            <a:off x="395536" y="2060848"/>
            <a:ext cx="8493328" cy="738664"/>
          </a:xfrm>
          <a:prstGeom prst="rect">
            <a:avLst/>
          </a:prstGeom>
        </p:spPr>
        <p:txBody>
          <a:bodyPr wrap="square">
            <a:spAutoFit/>
          </a:bodyPr>
          <a:lstStyle/>
          <a:p>
            <a:pPr lvl="1"/>
            <a:endParaRPr lang="en-US" sz="1400" dirty="0" smtClean="0"/>
          </a:p>
          <a:p>
            <a:pPr marL="285750" indent="-285750">
              <a:buFont typeface="Arial" panose="020B0604020202020204" pitchFamily="34" charset="0"/>
              <a:buChar char="•"/>
            </a:pPr>
            <a:endParaRPr lang="en-US" sz="1400" dirty="0" smtClean="0"/>
          </a:p>
          <a:p>
            <a:endParaRPr lang="de-DE" sz="1400" dirty="0"/>
          </a:p>
        </p:txBody>
      </p:sp>
      <p:pic>
        <p:nvPicPr>
          <p:cNvPr id="3" name="Grafik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420888"/>
            <a:ext cx="9144000" cy="2027212"/>
          </a:xfrm>
          <a:prstGeom prst="rect">
            <a:avLst/>
          </a:prstGeom>
        </p:spPr>
      </p:pic>
      <p:sp>
        <p:nvSpPr>
          <p:cNvPr id="4" name="Textfeld 3"/>
          <p:cNvSpPr txBox="1"/>
          <p:nvPr/>
        </p:nvSpPr>
        <p:spPr>
          <a:xfrm>
            <a:off x="251520" y="512638"/>
            <a:ext cx="2926570" cy="584775"/>
          </a:xfrm>
          <a:prstGeom prst="rect">
            <a:avLst/>
          </a:prstGeom>
          <a:noFill/>
        </p:spPr>
        <p:txBody>
          <a:bodyPr wrap="none" rtlCol="0">
            <a:spAutoFit/>
          </a:bodyPr>
          <a:lstStyle/>
          <a:p>
            <a:r>
              <a:rPr lang="en-GB" sz="3200" dirty="0" smtClean="0"/>
              <a:t>Blenheim Palace</a:t>
            </a:r>
            <a:endParaRPr lang="en-GB" sz="3200" dirty="0"/>
          </a:p>
        </p:txBody>
      </p:sp>
    </p:spTree>
    <p:extLst>
      <p:ext uri="{BB962C8B-B14F-4D97-AF65-F5344CB8AC3E}">
        <p14:creationId xmlns:p14="http://schemas.microsoft.com/office/powerpoint/2010/main" val="31664913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6</a:t>
            </a:fld>
            <a:endParaRPr lang="de-DE" dirty="0"/>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 y="-8877"/>
            <a:ext cx="9144000" cy="6597352"/>
          </a:xfrm>
          <a:prstGeom prst="rect">
            <a:avLst/>
          </a:prstGeom>
        </p:spPr>
      </p:pic>
      <p:sp>
        <p:nvSpPr>
          <p:cNvPr id="4" name="Rechteck 3"/>
          <p:cNvSpPr/>
          <p:nvPr/>
        </p:nvSpPr>
        <p:spPr>
          <a:xfrm>
            <a:off x="1979712" y="4869160"/>
            <a:ext cx="1440160" cy="707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feld 4"/>
          <p:cNvSpPr txBox="1"/>
          <p:nvPr/>
        </p:nvSpPr>
        <p:spPr>
          <a:xfrm>
            <a:off x="1979712" y="4869160"/>
            <a:ext cx="1402948" cy="707886"/>
          </a:xfrm>
          <a:prstGeom prst="rect">
            <a:avLst/>
          </a:prstGeom>
          <a:noFill/>
        </p:spPr>
        <p:txBody>
          <a:bodyPr wrap="none" rtlCol="0">
            <a:spAutoFit/>
          </a:bodyPr>
          <a:lstStyle/>
          <a:p>
            <a:r>
              <a:rPr lang="de-DE" sz="1000" dirty="0" smtClean="0"/>
              <a:t>Philipp IV  1621 – 1665</a:t>
            </a:r>
          </a:p>
          <a:p>
            <a:r>
              <a:rPr lang="de-DE" sz="1000" dirty="0" smtClean="0"/>
              <a:t>Charles II   1665 – 1700</a:t>
            </a:r>
          </a:p>
          <a:p>
            <a:endParaRPr lang="de-DE" sz="1000" dirty="0"/>
          </a:p>
          <a:p>
            <a:r>
              <a:rPr lang="de-DE" sz="1000" dirty="0" smtClean="0"/>
              <a:t>Philipp V   1700 – 1724</a:t>
            </a:r>
            <a:endParaRPr lang="de-DE" sz="1000" dirty="0"/>
          </a:p>
        </p:txBody>
      </p:sp>
      <p:sp>
        <p:nvSpPr>
          <p:cNvPr id="10" name="Rechteck 9"/>
          <p:cNvSpPr/>
          <p:nvPr/>
        </p:nvSpPr>
        <p:spPr>
          <a:xfrm>
            <a:off x="2041719" y="3344861"/>
            <a:ext cx="1440160" cy="43204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feld 10"/>
          <p:cNvSpPr txBox="1"/>
          <p:nvPr/>
        </p:nvSpPr>
        <p:spPr>
          <a:xfrm>
            <a:off x="2041719" y="3344861"/>
            <a:ext cx="1378904" cy="553998"/>
          </a:xfrm>
          <a:prstGeom prst="rect">
            <a:avLst/>
          </a:prstGeom>
          <a:noFill/>
        </p:spPr>
        <p:txBody>
          <a:bodyPr wrap="none" rtlCol="0">
            <a:spAutoFit/>
          </a:bodyPr>
          <a:lstStyle/>
          <a:p>
            <a:r>
              <a:rPr lang="de-DE" sz="1000" dirty="0" smtClean="0"/>
              <a:t>Louis XIII  1610 – 1643</a:t>
            </a:r>
          </a:p>
          <a:p>
            <a:r>
              <a:rPr lang="de-DE" sz="1000" dirty="0" smtClean="0"/>
              <a:t>Louis XIV  1643 -- 1715</a:t>
            </a:r>
          </a:p>
          <a:p>
            <a:endParaRPr lang="de-DE" sz="1000" dirty="0"/>
          </a:p>
        </p:txBody>
      </p:sp>
      <p:sp>
        <p:nvSpPr>
          <p:cNvPr id="14" name="Rechteck 13"/>
          <p:cNvSpPr/>
          <p:nvPr/>
        </p:nvSpPr>
        <p:spPr>
          <a:xfrm>
            <a:off x="5148064" y="1844824"/>
            <a:ext cx="1794658" cy="432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tx1"/>
              </a:solidFill>
            </a:endParaRPr>
          </a:p>
        </p:txBody>
      </p:sp>
      <p:sp>
        <p:nvSpPr>
          <p:cNvPr id="15" name="Textfeld 14"/>
          <p:cNvSpPr txBox="1"/>
          <p:nvPr/>
        </p:nvSpPr>
        <p:spPr>
          <a:xfrm>
            <a:off x="5176707" y="1879471"/>
            <a:ext cx="1811714" cy="553998"/>
          </a:xfrm>
          <a:prstGeom prst="rect">
            <a:avLst/>
          </a:prstGeom>
          <a:noFill/>
        </p:spPr>
        <p:txBody>
          <a:bodyPr wrap="none" rtlCol="0">
            <a:spAutoFit/>
          </a:bodyPr>
          <a:lstStyle/>
          <a:p>
            <a:r>
              <a:rPr lang="de-DE" sz="1000" dirty="0" smtClean="0"/>
              <a:t>Frederick William 1640 – 1688</a:t>
            </a:r>
          </a:p>
          <a:p>
            <a:r>
              <a:rPr lang="de-DE" sz="1000" dirty="0" smtClean="0"/>
              <a:t>Frederick I              1688 – 1713</a:t>
            </a:r>
          </a:p>
          <a:p>
            <a:endParaRPr lang="de-DE" sz="1000" dirty="0"/>
          </a:p>
        </p:txBody>
      </p:sp>
      <p:sp>
        <p:nvSpPr>
          <p:cNvPr id="17" name="Rechteck 16"/>
          <p:cNvSpPr/>
          <p:nvPr/>
        </p:nvSpPr>
        <p:spPr>
          <a:xfrm>
            <a:off x="5573231" y="2990919"/>
            <a:ext cx="1440160" cy="5554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Textfeld 17"/>
          <p:cNvSpPr txBox="1"/>
          <p:nvPr/>
        </p:nvSpPr>
        <p:spPr>
          <a:xfrm>
            <a:off x="5588001" y="2999667"/>
            <a:ext cx="1425390" cy="707886"/>
          </a:xfrm>
          <a:prstGeom prst="rect">
            <a:avLst/>
          </a:prstGeom>
          <a:noFill/>
        </p:spPr>
        <p:txBody>
          <a:bodyPr wrap="none" rtlCol="0">
            <a:spAutoFit/>
          </a:bodyPr>
          <a:lstStyle/>
          <a:p>
            <a:r>
              <a:rPr lang="de-DE" sz="1000" dirty="0" smtClean="0"/>
              <a:t>Leopold I   1657 – 1705</a:t>
            </a:r>
          </a:p>
          <a:p>
            <a:r>
              <a:rPr lang="de-DE" sz="1000" dirty="0" smtClean="0"/>
              <a:t>Joseph I     1705 – 1711</a:t>
            </a:r>
          </a:p>
          <a:p>
            <a:r>
              <a:rPr lang="de-DE" sz="1000" dirty="0" smtClean="0"/>
              <a:t>Charles VI  1711-- 1740</a:t>
            </a:r>
          </a:p>
          <a:p>
            <a:endParaRPr lang="de-DE" sz="1000" dirty="0"/>
          </a:p>
        </p:txBody>
      </p:sp>
      <p:grpSp>
        <p:nvGrpSpPr>
          <p:cNvPr id="19" name="Gruppieren 18"/>
          <p:cNvGrpSpPr/>
          <p:nvPr/>
        </p:nvGrpSpPr>
        <p:grpSpPr>
          <a:xfrm>
            <a:off x="879652" y="1753301"/>
            <a:ext cx="1820140" cy="1171643"/>
            <a:chOff x="164674" y="1537277"/>
            <a:chExt cx="1820140" cy="1171643"/>
          </a:xfrm>
        </p:grpSpPr>
        <p:sp>
          <p:nvSpPr>
            <p:cNvPr id="20" name="Rechteck 19"/>
            <p:cNvSpPr/>
            <p:nvPr/>
          </p:nvSpPr>
          <p:spPr>
            <a:xfrm>
              <a:off x="164674" y="1537277"/>
              <a:ext cx="1804611" cy="96198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tx1"/>
                </a:solidFill>
              </a:endParaRPr>
            </a:p>
          </p:txBody>
        </p:sp>
        <p:sp>
          <p:nvSpPr>
            <p:cNvPr id="21" name="Textfeld 20"/>
            <p:cNvSpPr txBox="1"/>
            <p:nvPr/>
          </p:nvSpPr>
          <p:spPr>
            <a:xfrm>
              <a:off x="179512" y="1539369"/>
              <a:ext cx="1805302" cy="1169551"/>
            </a:xfrm>
            <a:prstGeom prst="rect">
              <a:avLst/>
            </a:prstGeom>
            <a:noFill/>
          </p:spPr>
          <p:txBody>
            <a:bodyPr wrap="none" rtlCol="0">
              <a:spAutoFit/>
            </a:bodyPr>
            <a:lstStyle/>
            <a:p>
              <a:r>
                <a:rPr lang="de-DE" sz="1000" dirty="0" smtClean="0"/>
                <a:t>Charles II   1660 – 1685</a:t>
              </a:r>
            </a:p>
            <a:p>
              <a:r>
                <a:rPr lang="de-DE" sz="1000" dirty="0" smtClean="0"/>
                <a:t>James II      1685 – 1688</a:t>
              </a:r>
            </a:p>
            <a:p>
              <a:r>
                <a:rPr lang="de-DE" sz="1000" dirty="0" smtClean="0"/>
                <a:t>William III, Mary II  1688– 1694</a:t>
              </a:r>
            </a:p>
            <a:p>
              <a:r>
                <a:rPr lang="de-DE" sz="1000" dirty="0" smtClean="0"/>
                <a:t>William III   1688 – 1702</a:t>
              </a:r>
            </a:p>
            <a:p>
              <a:r>
                <a:rPr lang="de-DE" sz="1000" dirty="0" smtClean="0"/>
                <a:t>Anne            1702 – 1714</a:t>
              </a:r>
            </a:p>
            <a:p>
              <a:r>
                <a:rPr lang="de-DE" sz="1000" dirty="0" smtClean="0"/>
                <a:t>George I      1714 -- 1727</a:t>
              </a:r>
            </a:p>
            <a:p>
              <a:endParaRPr lang="de-DE" sz="1000" dirty="0"/>
            </a:p>
          </p:txBody>
        </p:sp>
      </p:grpSp>
      <p:sp>
        <p:nvSpPr>
          <p:cNvPr id="24" name="Rechteck 23"/>
          <p:cNvSpPr/>
          <p:nvPr/>
        </p:nvSpPr>
        <p:spPr>
          <a:xfrm>
            <a:off x="3305119" y="1844823"/>
            <a:ext cx="1440160" cy="432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tx1"/>
              </a:solidFill>
            </a:endParaRPr>
          </a:p>
        </p:txBody>
      </p:sp>
      <p:sp>
        <p:nvSpPr>
          <p:cNvPr id="25" name="Textfeld 24"/>
          <p:cNvSpPr txBox="1"/>
          <p:nvPr/>
        </p:nvSpPr>
        <p:spPr>
          <a:xfrm>
            <a:off x="3272010" y="1834294"/>
            <a:ext cx="1484702" cy="553998"/>
          </a:xfrm>
          <a:prstGeom prst="rect">
            <a:avLst/>
          </a:prstGeom>
          <a:noFill/>
        </p:spPr>
        <p:txBody>
          <a:bodyPr wrap="none" rtlCol="0">
            <a:spAutoFit/>
          </a:bodyPr>
          <a:lstStyle/>
          <a:p>
            <a:r>
              <a:rPr lang="de-DE" sz="1000" dirty="0" smtClean="0"/>
              <a:t>(William III  1672 – 1702)</a:t>
            </a:r>
          </a:p>
          <a:p>
            <a:r>
              <a:rPr lang="de-DE" sz="1000" dirty="0" smtClean="0"/>
              <a:t>(William IV  1711 – 1722)</a:t>
            </a:r>
          </a:p>
          <a:p>
            <a:endParaRPr lang="de-DE" sz="1000" dirty="0"/>
          </a:p>
        </p:txBody>
      </p:sp>
      <p:grpSp>
        <p:nvGrpSpPr>
          <p:cNvPr id="13" name="Gruppieren 12"/>
          <p:cNvGrpSpPr/>
          <p:nvPr/>
        </p:nvGrpSpPr>
        <p:grpSpPr>
          <a:xfrm>
            <a:off x="5079040" y="333372"/>
            <a:ext cx="1463862" cy="246221"/>
            <a:chOff x="-3175755" y="2471118"/>
            <a:chExt cx="1463862" cy="246221"/>
          </a:xfrm>
          <a:solidFill>
            <a:schemeClr val="accent2">
              <a:lumMod val="40000"/>
              <a:lumOff val="60000"/>
            </a:schemeClr>
          </a:solidFill>
        </p:grpSpPr>
        <p:sp>
          <p:nvSpPr>
            <p:cNvPr id="27" name="Rechteck 26"/>
            <p:cNvSpPr/>
            <p:nvPr/>
          </p:nvSpPr>
          <p:spPr>
            <a:xfrm>
              <a:off x="-3175755" y="2471118"/>
              <a:ext cx="1440160" cy="24622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Textfeld 27"/>
            <p:cNvSpPr txBox="1"/>
            <p:nvPr/>
          </p:nvSpPr>
          <p:spPr>
            <a:xfrm>
              <a:off x="-3175755" y="2471118"/>
              <a:ext cx="1463862" cy="246221"/>
            </a:xfrm>
            <a:prstGeom prst="rect">
              <a:avLst/>
            </a:prstGeom>
            <a:grpFill/>
          </p:spPr>
          <p:txBody>
            <a:bodyPr wrap="none" rtlCol="0">
              <a:spAutoFit/>
            </a:bodyPr>
            <a:lstStyle/>
            <a:p>
              <a:r>
                <a:rPr lang="de-DE" sz="1000" dirty="0" smtClean="0"/>
                <a:t>Charles XII  1697 – 1718</a:t>
              </a:r>
            </a:p>
          </p:txBody>
        </p:sp>
      </p:grpSp>
      <p:grpSp>
        <p:nvGrpSpPr>
          <p:cNvPr id="29" name="Gruppieren 28"/>
          <p:cNvGrpSpPr/>
          <p:nvPr/>
        </p:nvGrpSpPr>
        <p:grpSpPr>
          <a:xfrm>
            <a:off x="7693037" y="692696"/>
            <a:ext cx="1463862" cy="246221"/>
            <a:chOff x="-3175755" y="2471118"/>
            <a:chExt cx="1463862" cy="246221"/>
          </a:xfrm>
        </p:grpSpPr>
        <p:sp>
          <p:nvSpPr>
            <p:cNvPr id="30" name="Rechteck 29"/>
            <p:cNvSpPr/>
            <p:nvPr/>
          </p:nvSpPr>
          <p:spPr>
            <a:xfrm>
              <a:off x="-3175755" y="2471118"/>
              <a:ext cx="1440160" cy="2462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1" name="Textfeld 30"/>
            <p:cNvSpPr txBox="1"/>
            <p:nvPr/>
          </p:nvSpPr>
          <p:spPr>
            <a:xfrm>
              <a:off x="-3175755" y="2471118"/>
              <a:ext cx="1463862" cy="246221"/>
            </a:xfrm>
            <a:prstGeom prst="rect">
              <a:avLst/>
            </a:prstGeom>
            <a:noFill/>
          </p:spPr>
          <p:txBody>
            <a:bodyPr wrap="none" rtlCol="0">
              <a:spAutoFit/>
            </a:bodyPr>
            <a:lstStyle/>
            <a:p>
              <a:r>
                <a:rPr lang="de-DE" sz="1000" dirty="0" smtClean="0"/>
                <a:t>Peter I          1682 – 1725</a:t>
              </a:r>
            </a:p>
          </p:txBody>
        </p:sp>
      </p:grpSp>
      <p:sp>
        <p:nvSpPr>
          <p:cNvPr id="16" name="Ellipse 15"/>
          <p:cNvSpPr/>
          <p:nvPr/>
        </p:nvSpPr>
        <p:spPr>
          <a:xfrm>
            <a:off x="1763688" y="5229201"/>
            <a:ext cx="1800200" cy="514482"/>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66786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1619673" y="2881047"/>
            <a:ext cx="301066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feld 6"/>
          <p:cNvSpPr txBox="1"/>
          <p:nvPr/>
        </p:nvSpPr>
        <p:spPr>
          <a:xfrm>
            <a:off x="334825" y="404664"/>
            <a:ext cx="6512937" cy="646331"/>
          </a:xfrm>
          <a:prstGeom prst="rect">
            <a:avLst/>
          </a:prstGeom>
          <a:noFill/>
        </p:spPr>
        <p:txBody>
          <a:bodyPr wrap="none" rtlCol="0">
            <a:spAutoFit/>
          </a:bodyPr>
          <a:lstStyle/>
          <a:p>
            <a:r>
              <a:rPr lang="en-GB" sz="3600" dirty="0" smtClean="0">
                <a:solidFill>
                  <a:prstClr val="black"/>
                </a:solidFill>
              </a:rPr>
              <a:t>Europe </a:t>
            </a:r>
            <a:r>
              <a:rPr lang="en-GB" sz="3600" dirty="0">
                <a:solidFill>
                  <a:prstClr val="black"/>
                </a:solidFill>
              </a:rPr>
              <a:t>A</a:t>
            </a:r>
            <a:r>
              <a:rPr lang="en-GB" sz="3600" dirty="0" smtClean="0">
                <a:solidFill>
                  <a:prstClr val="black"/>
                </a:solidFill>
              </a:rPr>
              <a:t>lmost Continually at War</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en-GB" smtClean="0"/>
              <a:t>7</a:t>
            </a:fld>
            <a:endParaRPr lang="en-GB" dirty="0"/>
          </a:p>
        </p:txBody>
      </p:sp>
      <p:grpSp>
        <p:nvGrpSpPr>
          <p:cNvPr id="2" name="Gruppieren 1"/>
          <p:cNvGrpSpPr/>
          <p:nvPr/>
        </p:nvGrpSpPr>
        <p:grpSpPr>
          <a:xfrm>
            <a:off x="1700967" y="3212976"/>
            <a:ext cx="1234265" cy="1396262"/>
            <a:chOff x="683568" y="2565227"/>
            <a:chExt cx="1234265" cy="1224136"/>
          </a:xfrm>
        </p:grpSpPr>
        <p:sp>
          <p:nvSpPr>
            <p:cNvPr id="9" name="Rechteck 8"/>
            <p:cNvSpPr/>
            <p:nvPr/>
          </p:nvSpPr>
          <p:spPr>
            <a:xfrm>
              <a:off x="683568" y="2565227"/>
              <a:ext cx="1234265"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feld 10"/>
            <p:cNvSpPr txBox="1"/>
            <p:nvPr/>
          </p:nvSpPr>
          <p:spPr>
            <a:xfrm>
              <a:off x="787139" y="2705683"/>
              <a:ext cx="1130694" cy="830997"/>
            </a:xfrm>
            <a:prstGeom prst="rect">
              <a:avLst/>
            </a:prstGeom>
            <a:noFill/>
          </p:spPr>
          <p:txBody>
            <a:bodyPr wrap="none" rtlCol="0">
              <a:spAutoFit/>
            </a:bodyPr>
            <a:lstStyle/>
            <a:p>
              <a:r>
                <a:rPr lang="en-GB" sz="1200" dirty="0" smtClean="0"/>
                <a:t>Nine Years War</a:t>
              </a:r>
            </a:p>
            <a:p>
              <a:endParaRPr lang="en-GB" sz="1200" dirty="0" smtClean="0"/>
            </a:p>
            <a:p>
              <a:endParaRPr lang="en-GB" sz="1200" dirty="0" smtClean="0"/>
            </a:p>
            <a:p>
              <a:r>
                <a:rPr lang="en-GB" sz="1200" dirty="0" smtClean="0"/>
                <a:t>1688 – 1697</a:t>
              </a:r>
            </a:p>
          </p:txBody>
        </p:sp>
      </p:grpSp>
      <p:grpSp>
        <p:nvGrpSpPr>
          <p:cNvPr id="10" name="Gruppieren 9"/>
          <p:cNvGrpSpPr/>
          <p:nvPr/>
        </p:nvGrpSpPr>
        <p:grpSpPr>
          <a:xfrm>
            <a:off x="3131579" y="3213500"/>
            <a:ext cx="1431902" cy="1395737"/>
            <a:chOff x="2956755" y="2609326"/>
            <a:chExt cx="1431902" cy="1224136"/>
          </a:xfrm>
        </p:grpSpPr>
        <p:sp>
          <p:nvSpPr>
            <p:cNvPr id="12" name="Rechteck 11"/>
            <p:cNvSpPr/>
            <p:nvPr/>
          </p:nvSpPr>
          <p:spPr>
            <a:xfrm>
              <a:off x="2956755" y="2609326"/>
              <a:ext cx="1368152"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feld 12"/>
            <p:cNvSpPr txBox="1"/>
            <p:nvPr/>
          </p:nvSpPr>
          <p:spPr>
            <a:xfrm>
              <a:off x="2987824" y="2739834"/>
              <a:ext cx="1400833" cy="830997"/>
            </a:xfrm>
            <a:prstGeom prst="rect">
              <a:avLst/>
            </a:prstGeom>
            <a:noFill/>
          </p:spPr>
          <p:txBody>
            <a:bodyPr wrap="none" rtlCol="0">
              <a:spAutoFit/>
            </a:bodyPr>
            <a:lstStyle/>
            <a:p>
              <a:r>
                <a:rPr lang="en-GB" sz="1200" dirty="0" smtClean="0"/>
                <a:t>War of the Spanish </a:t>
              </a:r>
            </a:p>
            <a:p>
              <a:r>
                <a:rPr lang="en-GB" sz="1200" dirty="0" smtClean="0"/>
                <a:t>Succession</a:t>
              </a:r>
            </a:p>
            <a:p>
              <a:endParaRPr lang="en-GB" sz="1200" dirty="0" smtClean="0"/>
            </a:p>
            <a:p>
              <a:r>
                <a:rPr lang="en-GB" sz="1200" dirty="0" smtClean="0"/>
                <a:t>1702 – 1715</a:t>
              </a:r>
            </a:p>
          </p:txBody>
        </p:sp>
      </p:grpSp>
      <p:sp>
        <p:nvSpPr>
          <p:cNvPr id="23" name="Rechteck 22"/>
          <p:cNvSpPr/>
          <p:nvPr/>
        </p:nvSpPr>
        <p:spPr>
          <a:xfrm>
            <a:off x="245433" y="3212975"/>
            <a:ext cx="1234265" cy="1396263"/>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feld 23"/>
          <p:cNvSpPr txBox="1"/>
          <p:nvPr/>
        </p:nvSpPr>
        <p:spPr>
          <a:xfrm>
            <a:off x="251520" y="3353432"/>
            <a:ext cx="1198661" cy="1200329"/>
          </a:xfrm>
          <a:prstGeom prst="rect">
            <a:avLst/>
          </a:prstGeom>
          <a:noFill/>
        </p:spPr>
        <p:txBody>
          <a:bodyPr wrap="none" rtlCol="0">
            <a:spAutoFit/>
          </a:bodyPr>
          <a:lstStyle/>
          <a:p>
            <a:r>
              <a:rPr lang="en-GB" sz="1200" dirty="0" smtClean="0"/>
              <a:t>Dutch War</a:t>
            </a:r>
          </a:p>
          <a:p>
            <a:endParaRPr lang="en-GB" sz="1200" dirty="0" smtClean="0"/>
          </a:p>
          <a:p>
            <a:endParaRPr lang="en-GB" sz="1200" dirty="0" smtClean="0"/>
          </a:p>
          <a:p>
            <a:r>
              <a:rPr lang="en-GB" sz="1200" dirty="0" smtClean="0"/>
              <a:t>1672 – 1678</a:t>
            </a:r>
          </a:p>
          <a:p>
            <a:r>
              <a:rPr lang="en-GB" sz="1200" dirty="0" smtClean="0"/>
              <a:t>(England opting </a:t>
            </a:r>
            <a:br>
              <a:rPr lang="en-GB" sz="1200" dirty="0" smtClean="0"/>
            </a:br>
            <a:r>
              <a:rPr lang="en-GB" sz="1200" dirty="0" smtClean="0"/>
              <a:t>out in 1674)</a:t>
            </a:r>
          </a:p>
        </p:txBody>
      </p:sp>
      <p:grpSp>
        <p:nvGrpSpPr>
          <p:cNvPr id="29" name="Gruppieren 28"/>
          <p:cNvGrpSpPr/>
          <p:nvPr/>
        </p:nvGrpSpPr>
        <p:grpSpPr>
          <a:xfrm>
            <a:off x="6156176" y="3212976"/>
            <a:ext cx="1234265" cy="1396260"/>
            <a:chOff x="683568" y="2565227"/>
            <a:chExt cx="1234265" cy="1224136"/>
          </a:xfrm>
        </p:grpSpPr>
        <p:sp>
          <p:nvSpPr>
            <p:cNvPr id="30" name="Rechteck 29"/>
            <p:cNvSpPr/>
            <p:nvPr/>
          </p:nvSpPr>
          <p:spPr>
            <a:xfrm>
              <a:off x="683568" y="2565227"/>
              <a:ext cx="1234265"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Textfeld 30"/>
            <p:cNvSpPr txBox="1"/>
            <p:nvPr/>
          </p:nvSpPr>
          <p:spPr>
            <a:xfrm>
              <a:off x="787139" y="2705683"/>
              <a:ext cx="960519" cy="830997"/>
            </a:xfrm>
            <a:prstGeom prst="rect">
              <a:avLst/>
            </a:prstGeom>
            <a:noFill/>
          </p:spPr>
          <p:txBody>
            <a:bodyPr wrap="none" rtlCol="0">
              <a:spAutoFit/>
            </a:bodyPr>
            <a:lstStyle/>
            <a:p>
              <a:r>
                <a:rPr lang="en-GB" sz="1200" dirty="0" smtClean="0"/>
                <a:t>War of the </a:t>
              </a:r>
              <a:br>
                <a:rPr lang="en-GB" sz="1200" dirty="0" smtClean="0"/>
              </a:br>
              <a:r>
                <a:rPr lang="en-GB" sz="1200" dirty="0" smtClean="0"/>
                <a:t>Austrian </a:t>
              </a:r>
              <a:br>
                <a:rPr lang="en-GB" sz="1200" dirty="0" smtClean="0"/>
              </a:br>
              <a:r>
                <a:rPr lang="en-GB" sz="1200" dirty="0" smtClean="0"/>
                <a:t>Succession</a:t>
              </a:r>
            </a:p>
            <a:p>
              <a:r>
                <a:rPr lang="en-GB" sz="1200" dirty="0" smtClean="0"/>
                <a:t>1740 – 1748</a:t>
              </a:r>
            </a:p>
          </p:txBody>
        </p:sp>
      </p:grpSp>
      <p:sp>
        <p:nvSpPr>
          <p:cNvPr id="32" name="Rechteck 31"/>
          <p:cNvSpPr/>
          <p:nvPr/>
        </p:nvSpPr>
        <p:spPr>
          <a:xfrm>
            <a:off x="4759828" y="4264987"/>
            <a:ext cx="1234265" cy="1396261"/>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Textfeld 32"/>
          <p:cNvSpPr txBox="1"/>
          <p:nvPr/>
        </p:nvSpPr>
        <p:spPr>
          <a:xfrm>
            <a:off x="4765915" y="4405444"/>
            <a:ext cx="1331749" cy="1015663"/>
          </a:xfrm>
          <a:prstGeom prst="rect">
            <a:avLst/>
          </a:prstGeom>
          <a:noFill/>
        </p:spPr>
        <p:txBody>
          <a:bodyPr wrap="square" rtlCol="0">
            <a:spAutoFit/>
          </a:bodyPr>
          <a:lstStyle/>
          <a:p>
            <a:r>
              <a:rPr lang="en-GB" sz="1200" dirty="0" smtClean="0"/>
              <a:t>War of the Polish</a:t>
            </a:r>
          </a:p>
          <a:p>
            <a:r>
              <a:rPr lang="en-GB" sz="1200" dirty="0" smtClean="0"/>
              <a:t>Succession </a:t>
            </a:r>
          </a:p>
          <a:p>
            <a:r>
              <a:rPr lang="en-GB" sz="1200" dirty="0" smtClean="0"/>
              <a:t>1733 – 1738</a:t>
            </a:r>
            <a:endParaRPr lang="en-GB" sz="1200" dirty="0"/>
          </a:p>
          <a:p>
            <a:r>
              <a:rPr lang="en-GB" sz="1200" dirty="0" smtClean="0"/>
              <a:t>(Britain not </a:t>
            </a:r>
            <a:r>
              <a:rPr lang="en-GB" sz="1200" dirty="0" smtClean="0"/>
              <a:t>involved)</a:t>
            </a:r>
          </a:p>
        </p:txBody>
      </p:sp>
      <p:grpSp>
        <p:nvGrpSpPr>
          <p:cNvPr id="16" name="Gruppieren 15"/>
          <p:cNvGrpSpPr/>
          <p:nvPr/>
        </p:nvGrpSpPr>
        <p:grpSpPr>
          <a:xfrm>
            <a:off x="7586787" y="3212976"/>
            <a:ext cx="1235854" cy="1396260"/>
            <a:chOff x="7570685" y="2608801"/>
            <a:chExt cx="1235854" cy="1224136"/>
          </a:xfrm>
        </p:grpSpPr>
        <p:sp>
          <p:nvSpPr>
            <p:cNvPr id="35" name="Rechteck 34"/>
            <p:cNvSpPr/>
            <p:nvPr/>
          </p:nvSpPr>
          <p:spPr>
            <a:xfrm>
              <a:off x="7570685" y="2608801"/>
              <a:ext cx="1234265"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Textfeld 35"/>
            <p:cNvSpPr txBox="1"/>
            <p:nvPr/>
          </p:nvSpPr>
          <p:spPr>
            <a:xfrm>
              <a:off x="7596336" y="2749257"/>
              <a:ext cx="1210203" cy="830997"/>
            </a:xfrm>
            <a:prstGeom prst="rect">
              <a:avLst/>
            </a:prstGeom>
            <a:noFill/>
          </p:spPr>
          <p:txBody>
            <a:bodyPr wrap="none" rtlCol="0">
              <a:spAutoFit/>
            </a:bodyPr>
            <a:lstStyle/>
            <a:p>
              <a:r>
                <a:rPr lang="en-GB" sz="1200" dirty="0" smtClean="0"/>
                <a:t>Seven Years War</a:t>
              </a:r>
              <a:br>
                <a:rPr lang="en-GB" sz="1200" dirty="0" smtClean="0"/>
              </a:br>
              <a:endParaRPr lang="en-GB" sz="1200" dirty="0" smtClean="0"/>
            </a:p>
            <a:p>
              <a:endParaRPr lang="en-GB" sz="1200" dirty="0" smtClean="0"/>
            </a:p>
            <a:p>
              <a:r>
                <a:rPr lang="en-GB" sz="1200" dirty="0" smtClean="0"/>
                <a:t>1756 – 1763</a:t>
              </a:r>
            </a:p>
          </p:txBody>
        </p:sp>
      </p:grpSp>
      <p:sp>
        <p:nvSpPr>
          <p:cNvPr id="4" name="Textfeld 3"/>
          <p:cNvSpPr txBox="1"/>
          <p:nvPr/>
        </p:nvSpPr>
        <p:spPr>
          <a:xfrm>
            <a:off x="251520" y="2240921"/>
            <a:ext cx="1110945" cy="461665"/>
          </a:xfrm>
          <a:prstGeom prst="rect">
            <a:avLst/>
          </a:prstGeom>
          <a:noFill/>
        </p:spPr>
        <p:txBody>
          <a:bodyPr wrap="none" rtlCol="0">
            <a:spAutoFit/>
          </a:bodyPr>
          <a:lstStyle/>
          <a:p>
            <a:r>
              <a:rPr lang="en-GB" sz="1200" dirty="0" smtClean="0"/>
              <a:t>Churchill’s </a:t>
            </a:r>
          </a:p>
          <a:p>
            <a:r>
              <a:rPr lang="en-GB" sz="1200" dirty="0" smtClean="0"/>
              <a:t>apprenticeship</a:t>
            </a:r>
            <a:endParaRPr lang="en-GB" sz="1200" dirty="0"/>
          </a:p>
        </p:txBody>
      </p:sp>
      <p:sp>
        <p:nvSpPr>
          <p:cNvPr id="25" name="Textfeld 24"/>
          <p:cNvSpPr txBox="1"/>
          <p:nvPr/>
        </p:nvSpPr>
        <p:spPr>
          <a:xfrm>
            <a:off x="1630701" y="2247255"/>
            <a:ext cx="819070" cy="461665"/>
          </a:xfrm>
          <a:prstGeom prst="rect">
            <a:avLst/>
          </a:prstGeom>
          <a:noFill/>
        </p:spPr>
        <p:txBody>
          <a:bodyPr wrap="none" rtlCol="0">
            <a:spAutoFit/>
          </a:bodyPr>
          <a:lstStyle/>
          <a:p>
            <a:r>
              <a:rPr lang="en-GB" sz="1200" dirty="0" smtClean="0"/>
              <a:t>Churchill’s</a:t>
            </a:r>
            <a:br>
              <a:rPr lang="en-GB" sz="1200" dirty="0" smtClean="0"/>
            </a:br>
            <a:r>
              <a:rPr lang="en-GB" sz="1200" dirty="0" smtClean="0"/>
              <a:t>first feats</a:t>
            </a:r>
            <a:endParaRPr lang="en-GB" sz="1200" dirty="0"/>
          </a:p>
        </p:txBody>
      </p:sp>
      <p:sp>
        <p:nvSpPr>
          <p:cNvPr id="26" name="Textfeld 25"/>
          <p:cNvSpPr txBox="1"/>
          <p:nvPr/>
        </p:nvSpPr>
        <p:spPr>
          <a:xfrm>
            <a:off x="3024915" y="2240920"/>
            <a:ext cx="1313436" cy="461665"/>
          </a:xfrm>
          <a:prstGeom prst="rect">
            <a:avLst/>
          </a:prstGeom>
          <a:noFill/>
        </p:spPr>
        <p:txBody>
          <a:bodyPr wrap="none" rtlCol="0">
            <a:spAutoFit/>
          </a:bodyPr>
          <a:lstStyle/>
          <a:p>
            <a:r>
              <a:rPr lang="en-GB" sz="1200" dirty="0" smtClean="0"/>
              <a:t>Churchill as</a:t>
            </a:r>
            <a:r>
              <a:rPr lang="en-GB" sz="1200" dirty="0" smtClean="0"/>
              <a:t/>
            </a:r>
            <a:br>
              <a:rPr lang="en-GB" sz="1200" dirty="0" smtClean="0"/>
            </a:br>
            <a:r>
              <a:rPr lang="en-GB" sz="1200" dirty="0" smtClean="0"/>
              <a:t>Chief Commander</a:t>
            </a:r>
            <a:endParaRPr lang="en-GB" sz="1200" dirty="0"/>
          </a:p>
        </p:txBody>
      </p:sp>
    </p:spTree>
    <p:extLst>
      <p:ext uri="{BB962C8B-B14F-4D97-AF65-F5344CB8AC3E}">
        <p14:creationId xmlns:p14="http://schemas.microsoft.com/office/powerpoint/2010/main" val="19068917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24"/>
          <p:cNvSpPr/>
          <p:nvPr/>
        </p:nvSpPr>
        <p:spPr>
          <a:xfrm flipH="1">
            <a:off x="4217498" y="4104552"/>
            <a:ext cx="1304978" cy="56876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hteck 20"/>
          <p:cNvSpPr/>
          <p:nvPr/>
        </p:nvSpPr>
        <p:spPr>
          <a:xfrm flipH="1">
            <a:off x="4224672" y="4678635"/>
            <a:ext cx="1297805" cy="47855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hteck 21"/>
          <p:cNvSpPr/>
          <p:nvPr/>
        </p:nvSpPr>
        <p:spPr>
          <a:xfrm flipH="1">
            <a:off x="4227166" y="1647348"/>
            <a:ext cx="1393243" cy="64101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hteck 4"/>
          <p:cNvSpPr/>
          <p:nvPr/>
        </p:nvSpPr>
        <p:spPr>
          <a:xfrm flipH="1">
            <a:off x="474718" y="1656010"/>
            <a:ext cx="869634" cy="47855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feld 6"/>
          <p:cNvSpPr txBox="1"/>
          <p:nvPr/>
        </p:nvSpPr>
        <p:spPr>
          <a:xfrm>
            <a:off x="334825" y="404664"/>
            <a:ext cx="3550780" cy="646331"/>
          </a:xfrm>
          <a:prstGeom prst="rect">
            <a:avLst/>
          </a:prstGeom>
          <a:noFill/>
        </p:spPr>
        <p:txBody>
          <a:bodyPr wrap="none" rtlCol="0">
            <a:spAutoFit/>
          </a:bodyPr>
          <a:lstStyle/>
          <a:p>
            <a:r>
              <a:rPr lang="en-GB" sz="3600" dirty="0" smtClean="0">
                <a:solidFill>
                  <a:prstClr val="black"/>
                </a:solidFill>
              </a:rPr>
              <a:t>Containing France</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en-GB" smtClean="0"/>
              <a:t>8</a:t>
            </a:fld>
            <a:endParaRPr lang="en-GB" dirty="0"/>
          </a:p>
        </p:txBody>
      </p:sp>
      <p:sp>
        <p:nvSpPr>
          <p:cNvPr id="9" name="Rechteck 8"/>
          <p:cNvSpPr/>
          <p:nvPr/>
        </p:nvSpPr>
        <p:spPr>
          <a:xfrm>
            <a:off x="480256" y="2565227"/>
            <a:ext cx="3168352"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feld 10"/>
          <p:cNvSpPr txBox="1"/>
          <p:nvPr/>
        </p:nvSpPr>
        <p:spPr>
          <a:xfrm>
            <a:off x="583827" y="2705683"/>
            <a:ext cx="2193164" cy="830997"/>
          </a:xfrm>
          <a:prstGeom prst="rect">
            <a:avLst/>
          </a:prstGeom>
          <a:noFill/>
        </p:spPr>
        <p:txBody>
          <a:bodyPr wrap="none" rtlCol="0">
            <a:spAutoFit/>
          </a:bodyPr>
          <a:lstStyle/>
          <a:p>
            <a:r>
              <a:rPr lang="en-GB" sz="1200" dirty="0" smtClean="0"/>
              <a:t>Nine Years War</a:t>
            </a:r>
          </a:p>
          <a:p>
            <a:r>
              <a:rPr lang="en-GB" sz="1200" dirty="0" smtClean="0"/>
              <a:t>1688 – 1697</a:t>
            </a:r>
          </a:p>
          <a:p>
            <a:endParaRPr lang="en-GB" sz="1200" dirty="0"/>
          </a:p>
          <a:p>
            <a:r>
              <a:rPr lang="en-GB" sz="1200" dirty="0" smtClean="0"/>
              <a:t>Treaty of Ryswick (20 Sep 1697) </a:t>
            </a:r>
            <a:endParaRPr lang="en-GB" sz="1200" dirty="0"/>
          </a:p>
        </p:txBody>
      </p:sp>
      <p:sp>
        <p:nvSpPr>
          <p:cNvPr id="12" name="Rechteck 11"/>
          <p:cNvSpPr/>
          <p:nvPr/>
        </p:nvSpPr>
        <p:spPr>
          <a:xfrm>
            <a:off x="4224672" y="2555280"/>
            <a:ext cx="3528392" cy="1224136"/>
          </a:xfrm>
          <a:prstGeom prst="rect">
            <a:avLst/>
          </a:prstGeom>
          <a:solidFill>
            <a:schemeClr val="bg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feld 12"/>
          <p:cNvSpPr txBox="1"/>
          <p:nvPr/>
        </p:nvSpPr>
        <p:spPr>
          <a:xfrm>
            <a:off x="4322604" y="2695735"/>
            <a:ext cx="2158476" cy="1015663"/>
          </a:xfrm>
          <a:prstGeom prst="rect">
            <a:avLst/>
          </a:prstGeom>
          <a:noFill/>
        </p:spPr>
        <p:txBody>
          <a:bodyPr wrap="none" rtlCol="0">
            <a:spAutoFit/>
          </a:bodyPr>
          <a:lstStyle/>
          <a:p>
            <a:r>
              <a:rPr lang="en-GB" sz="1200" dirty="0" smtClean="0"/>
              <a:t>War of Spanish Succession</a:t>
            </a:r>
          </a:p>
          <a:p>
            <a:r>
              <a:rPr lang="en-GB" sz="1200" dirty="0" smtClean="0"/>
              <a:t>1702 – 1715</a:t>
            </a:r>
          </a:p>
          <a:p>
            <a:endParaRPr lang="en-GB" sz="1200" dirty="0"/>
          </a:p>
          <a:p>
            <a:r>
              <a:rPr lang="en-GB" sz="1200" dirty="0"/>
              <a:t>Treaty of </a:t>
            </a:r>
            <a:r>
              <a:rPr lang="en-GB" sz="1200" dirty="0" smtClean="0"/>
              <a:t>Utrecht (March 1713) </a:t>
            </a:r>
            <a:endParaRPr lang="en-GB" sz="1200" dirty="0"/>
          </a:p>
          <a:p>
            <a:endParaRPr lang="en-GB" sz="1200" dirty="0"/>
          </a:p>
        </p:txBody>
      </p:sp>
      <p:sp>
        <p:nvSpPr>
          <p:cNvPr id="4" name="Textfeld 3"/>
          <p:cNvSpPr txBox="1"/>
          <p:nvPr/>
        </p:nvSpPr>
        <p:spPr>
          <a:xfrm>
            <a:off x="4199123" y="1656011"/>
            <a:ext cx="1421287" cy="646331"/>
          </a:xfrm>
          <a:prstGeom prst="rect">
            <a:avLst/>
          </a:prstGeom>
          <a:noFill/>
        </p:spPr>
        <p:txBody>
          <a:bodyPr wrap="none" rtlCol="0">
            <a:spAutoFit/>
          </a:bodyPr>
          <a:lstStyle/>
          <a:p>
            <a:r>
              <a:rPr lang="en-GB" sz="1200" dirty="0" smtClean="0"/>
              <a:t>France </a:t>
            </a:r>
          </a:p>
          <a:p>
            <a:r>
              <a:rPr lang="en-GB" sz="1200" dirty="0" smtClean="0"/>
              <a:t>Spain</a:t>
            </a:r>
          </a:p>
          <a:p>
            <a:r>
              <a:rPr lang="en-GB" sz="1200" dirty="0" smtClean="0"/>
              <a:t>Bavaria (from 1703)</a:t>
            </a:r>
            <a:endParaRPr lang="en-GB" sz="1200" dirty="0"/>
          </a:p>
        </p:txBody>
      </p:sp>
      <p:sp>
        <p:nvSpPr>
          <p:cNvPr id="14" name="Textfeld 13"/>
          <p:cNvSpPr txBox="1"/>
          <p:nvPr/>
        </p:nvSpPr>
        <p:spPr>
          <a:xfrm>
            <a:off x="4224672" y="4098797"/>
            <a:ext cx="1399935" cy="1015663"/>
          </a:xfrm>
          <a:prstGeom prst="rect">
            <a:avLst/>
          </a:prstGeom>
          <a:noFill/>
        </p:spPr>
        <p:txBody>
          <a:bodyPr wrap="none" rtlCol="0">
            <a:spAutoFit/>
          </a:bodyPr>
          <a:lstStyle/>
          <a:p>
            <a:r>
              <a:rPr lang="en-GB" sz="1200" dirty="0" smtClean="0"/>
              <a:t>Great Britain</a:t>
            </a:r>
          </a:p>
          <a:p>
            <a:r>
              <a:rPr lang="en-GB" sz="1200" dirty="0" smtClean="0"/>
              <a:t>Dutch Republic</a:t>
            </a:r>
          </a:p>
          <a:p>
            <a:r>
              <a:rPr lang="en-GB" sz="1200" dirty="0" smtClean="0"/>
              <a:t>Prussia</a:t>
            </a:r>
          </a:p>
          <a:p>
            <a:r>
              <a:rPr lang="en-GB" sz="1200" dirty="0"/>
              <a:t>Austria</a:t>
            </a:r>
            <a:endParaRPr lang="en-GB" sz="1200" dirty="0" smtClean="0"/>
          </a:p>
          <a:p>
            <a:r>
              <a:rPr lang="en-GB" sz="1200" dirty="0" smtClean="0"/>
              <a:t>Bavaria (until 1703)</a:t>
            </a:r>
          </a:p>
        </p:txBody>
      </p:sp>
      <p:sp>
        <p:nvSpPr>
          <p:cNvPr id="15" name="Textfeld 14"/>
          <p:cNvSpPr txBox="1"/>
          <p:nvPr/>
        </p:nvSpPr>
        <p:spPr>
          <a:xfrm>
            <a:off x="474718" y="1655795"/>
            <a:ext cx="850169" cy="461665"/>
          </a:xfrm>
          <a:prstGeom prst="rect">
            <a:avLst/>
          </a:prstGeom>
          <a:noFill/>
        </p:spPr>
        <p:txBody>
          <a:bodyPr wrap="none" rtlCol="0">
            <a:spAutoFit/>
          </a:bodyPr>
          <a:lstStyle/>
          <a:p>
            <a:r>
              <a:rPr lang="en-GB" sz="1200" dirty="0" smtClean="0"/>
              <a:t>France </a:t>
            </a:r>
          </a:p>
          <a:p>
            <a:r>
              <a:rPr lang="en-GB" sz="1200" dirty="0" smtClean="0"/>
              <a:t>(Jacobites)</a:t>
            </a:r>
            <a:endParaRPr lang="en-GB" sz="1200" dirty="0"/>
          </a:p>
        </p:txBody>
      </p:sp>
      <p:sp>
        <p:nvSpPr>
          <p:cNvPr id="26" name="Rechteck 25"/>
          <p:cNvSpPr/>
          <p:nvPr/>
        </p:nvSpPr>
        <p:spPr>
          <a:xfrm flipH="1">
            <a:off x="467544" y="4101448"/>
            <a:ext cx="1304978" cy="56876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hteck 26"/>
          <p:cNvSpPr/>
          <p:nvPr/>
        </p:nvSpPr>
        <p:spPr>
          <a:xfrm flipH="1">
            <a:off x="474718" y="4675531"/>
            <a:ext cx="1297805" cy="47855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feld 27"/>
          <p:cNvSpPr txBox="1"/>
          <p:nvPr/>
        </p:nvSpPr>
        <p:spPr>
          <a:xfrm>
            <a:off x="474718" y="4095693"/>
            <a:ext cx="1292662" cy="1015663"/>
          </a:xfrm>
          <a:prstGeom prst="rect">
            <a:avLst/>
          </a:prstGeom>
          <a:noFill/>
        </p:spPr>
        <p:txBody>
          <a:bodyPr wrap="none" rtlCol="0">
            <a:spAutoFit/>
          </a:bodyPr>
          <a:lstStyle/>
          <a:p>
            <a:r>
              <a:rPr lang="en-GB" sz="1200" dirty="0" smtClean="0"/>
              <a:t>England, Scotland</a:t>
            </a:r>
          </a:p>
          <a:p>
            <a:r>
              <a:rPr lang="en-GB" sz="1200" dirty="0" smtClean="0"/>
              <a:t>Dutch Republic</a:t>
            </a:r>
          </a:p>
          <a:p>
            <a:r>
              <a:rPr lang="en-GB" sz="1200" dirty="0" smtClean="0"/>
              <a:t>Prussia</a:t>
            </a:r>
          </a:p>
          <a:p>
            <a:r>
              <a:rPr lang="en-GB" sz="1200" dirty="0"/>
              <a:t>Austria</a:t>
            </a:r>
            <a:endParaRPr lang="en-GB" sz="1200" dirty="0" smtClean="0"/>
          </a:p>
          <a:p>
            <a:r>
              <a:rPr lang="en-GB" sz="1200" dirty="0" smtClean="0"/>
              <a:t>Spain</a:t>
            </a:r>
          </a:p>
        </p:txBody>
      </p:sp>
    </p:spTree>
    <p:extLst>
      <p:ext uri="{BB962C8B-B14F-4D97-AF65-F5344CB8AC3E}">
        <p14:creationId xmlns:p14="http://schemas.microsoft.com/office/powerpoint/2010/main" val="28753259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34825" y="404664"/>
            <a:ext cx="6313716" cy="646331"/>
          </a:xfrm>
          <a:prstGeom prst="rect">
            <a:avLst/>
          </a:prstGeom>
          <a:noFill/>
        </p:spPr>
        <p:txBody>
          <a:bodyPr wrap="none" rtlCol="0">
            <a:spAutoFit/>
          </a:bodyPr>
          <a:lstStyle/>
          <a:p>
            <a:r>
              <a:rPr lang="en-GB" sz="3600" dirty="0" smtClean="0">
                <a:solidFill>
                  <a:prstClr val="black"/>
                </a:solidFill>
              </a:rPr>
              <a:t>Marlborough's Life in Five Stages</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9</a:t>
            </a:fld>
            <a:endParaRPr lang="de-DE"/>
          </a:p>
        </p:txBody>
      </p:sp>
      <p:sp>
        <p:nvSpPr>
          <p:cNvPr id="8" name="Rechteck 7"/>
          <p:cNvSpPr/>
          <p:nvPr/>
        </p:nvSpPr>
        <p:spPr>
          <a:xfrm>
            <a:off x="334825" y="1340768"/>
            <a:ext cx="8493328" cy="5262979"/>
          </a:xfrm>
          <a:prstGeom prst="rect">
            <a:avLst/>
          </a:prstGeom>
        </p:spPr>
        <p:txBody>
          <a:bodyPr wrap="square">
            <a:spAutoFit/>
          </a:bodyPr>
          <a:lstStyle/>
          <a:p>
            <a:r>
              <a:rPr lang="en-GB" sz="1400" b="1" dirty="0" smtClean="0"/>
              <a:t>Early Life (1650 – 1678)</a:t>
            </a:r>
          </a:p>
          <a:p>
            <a:pPr marL="285750" indent="-285750">
              <a:buFont typeface="Arial" panose="020B0604020202020204" pitchFamily="34" charset="0"/>
              <a:buChar char="•"/>
            </a:pPr>
            <a:r>
              <a:rPr lang="en-GB" sz="1400" dirty="0" smtClean="0"/>
              <a:t>Page to James, Duke of York, several military expeditions</a:t>
            </a:r>
          </a:p>
          <a:p>
            <a:pPr marL="285750" indent="-285750">
              <a:buFont typeface="Arial" panose="020B0604020202020204" pitchFamily="34" charset="0"/>
              <a:buChar char="•"/>
            </a:pPr>
            <a:r>
              <a:rPr lang="en-GB" sz="1400" dirty="0" smtClean="0"/>
              <a:t>Lover of Barbara Villiers, </a:t>
            </a:r>
            <a:r>
              <a:rPr lang="en-GB" sz="1400" dirty="0"/>
              <a:t>m</a:t>
            </a:r>
            <a:r>
              <a:rPr lang="en-GB" sz="1400" dirty="0" smtClean="0"/>
              <a:t>arriage with Sarah Jennings</a:t>
            </a:r>
            <a:endParaRPr lang="en-GB" sz="1400" b="1" dirty="0" smtClean="0"/>
          </a:p>
          <a:p>
            <a:pPr marL="285750" indent="-285750">
              <a:buFont typeface="Arial" panose="020B0604020202020204" pitchFamily="34" charset="0"/>
              <a:buChar char="•"/>
            </a:pPr>
            <a:endParaRPr lang="en-US" sz="1400" dirty="0" smtClean="0"/>
          </a:p>
          <a:p>
            <a:r>
              <a:rPr lang="en-US" sz="1400" b="1" dirty="0" smtClean="0"/>
              <a:t>Serving the Duke of York/James II (1678 – 1688) </a:t>
            </a:r>
          </a:p>
          <a:p>
            <a:pPr marL="285750" indent="-285750">
              <a:buFont typeface="Arial" panose="020B0604020202020204" pitchFamily="34" charset="0"/>
              <a:buChar char="•"/>
            </a:pPr>
            <a:r>
              <a:rPr lang="en-US" sz="1400" dirty="0"/>
              <a:t>A</a:t>
            </a:r>
            <a:r>
              <a:rPr lang="en-US" sz="1400" dirty="0" smtClean="0"/>
              <a:t>ccompanies the Duke of York into exile (1682 – 1684)</a:t>
            </a:r>
          </a:p>
          <a:p>
            <a:pPr marL="285750" indent="-285750">
              <a:buFont typeface="Arial" panose="020B0604020202020204" pitchFamily="34" charset="0"/>
              <a:buChar char="•"/>
            </a:pPr>
            <a:r>
              <a:rPr lang="en-US" sz="1400" dirty="0" smtClean="0"/>
              <a:t>Defeats Monmouth in the Battle of </a:t>
            </a:r>
            <a:r>
              <a:rPr lang="en-US" sz="1400" dirty="0"/>
              <a:t>Sedgemoor </a:t>
            </a:r>
            <a:r>
              <a:rPr lang="en-US" sz="1400" dirty="0" smtClean="0"/>
              <a:t>(</a:t>
            </a:r>
            <a:r>
              <a:rPr lang="en-US" sz="1400" dirty="0"/>
              <a:t>6 July 1685</a:t>
            </a:r>
            <a:r>
              <a:rPr lang="en-US" sz="1400" dirty="0" smtClean="0"/>
              <a:t>)</a:t>
            </a:r>
          </a:p>
          <a:p>
            <a:pPr marL="285750" indent="-285750">
              <a:buFont typeface="Arial" panose="020B0604020202020204" pitchFamily="34" charset="0"/>
              <a:buChar char="•"/>
            </a:pPr>
            <a:r>
              <a:rPr lang="en-US" sz="1400" dirty="0" smtClean="0"/>
              <a:t>Deserts James II (24 November 1688)</a:t>
            </a:r>
          </a:p>
          <a:p>
            <a:endParaRPr lang="en-US" sz="1400" dirty="0"/>
          </a:p>
          <a:p>
            <a:r>
              <a:rPr lang="en-US" sz="1400" b="1" dirty="0" smtClean="0"/>
              <a:t>Serving William III and Mary (1688 – 1702)</a:t>
            </a:r>
            <a:endParaRPr lang="en-US" sz="1400" dirty="0" smtClean="0"/>
          </a:p>
          <a:p>
            <a:pPr marL="285750" indent="-285750">
              <a:buFont typeface="Arial" panose="020B0604020202020204" pitchFamily="34" charset="0"/>
              <a:buChar char="•"/>
            </a:pPr>
            <a:r>
              <a:rPr lang="en-US" sz="1400" dirty="0" smtClean="0"/>
              <a:t>Rocky relationship with William and Mary, with Sarah in between, persisting contact with James. </a:t>
            </a:r>
          </a:p>
          <a:p>
            <a:pPr marL="285750" indent="-285750">
              <a:buFont typeface="Arial" panose="020B0604020202020204" pitchFamily="34" charset="0"/>
              <a:buChar char="•"/>
            </a:pPr>
            <a:r>
              <a:rPr lang="en-US" sz="1400" dirty="0" smtClean="0"/>
              <a:t>Some military feats during the Nine Years War, but little reward, then sacked.</a:t>
            </a:r>
          </a:p>
          <a:p>
            <a:pPr marL="285750" indent="-285750">
              <a:buFont typeface="Arial" panose="020B0604020202020204" pitchFamily="34" charset="0"/>
              <a:buChar char="•"/>
            </a:pPr>
            <a:r>
              <a:rPr lang="en-US" sz="1400" dirty="0" smtClean="0"/>
              <a:t>At least four probably forged accusations of high treason, five weeks in the Tower, but finally returned in office.</a:t>
            </a:r>
          </a:p>
          <a:p>
            <a:pPr marL="285750" indent="-285750">
              <a:buFont typeface="Arial" panose="020B0604020202020204" pitchFamily="34" charset="0"/>
              <a:buChar char="•"/>
            </a:pPr>
            <a:endParaRPr lang="en-US" sz="1400" dirty="0"/>
          </a:p>
          <a:p>
            <a:r>
              <a:rPr lang="en-US" sz="1400" b="1" dirty="0" smtClean="0"/>
              <a:t>Serving Queen Anne (1702 - 1711)</a:t>
            </a:r>
            <a:endParaRPr lang="en-US" sz="1400" dirty="0"/>
          </a:p>
          <a:p>
            <a:pPr marL="285750" indent="-285750">
              <a:buFont typeface="Arial" panose="020B0604020202020204" pitchFamily="34" charset="0"/>
              <a:buChar char="•"/>
            </a:pPr>
            <a:r>
              <a:rPr lang="en-US" sz="1400" dirty="0" smtClean="0"/>
              <a:t>Commander in Chief of the Allies; many brilliant victories (Blenheim, Ramillies, </a:t>
            </a:r>
            <a:r>
              <a:rPr lang="en-GB" sz="1400" dirty="0" err="1" smtClean="0"/>
              <a:t>Oudenaarde</a:t>
            </a:r>
            <a:r>
              <a:rPr lang="en-GB" sz="1400" dirty="0" smtClean="0"/>
              <a:t>, </a:t>
            </a:r>
            <a:r>
              <a:rPr lang="en-GB" sz="1400" dirty="0" err="1" smtClean="0"/>
              <a:t>Buchain</a:t>
            </a:r>
            <a:r>
              <a:rPr lang="en-GB" sz="1400" dirty="0" smtClean="0"/>
              <a:t>)</a:t>
            </a:r>
          </a:p>
          <a:p>
            <a:pPr marL="285750" indent="-285750">
              <a:buFont typeface="Arial" panose="020B0604020202020204" pitchFamily="34" charset="0"/>
              <a:buChar char="•"/>
            </a:pPr>
            <a:r>
              <a:rPr lang="en-GB" sz="1400" dirty="0" smtClean="0"/>
              <a:t>Permanent charges from the Tories as soon as military success is on the wane.</a:t>
            </a:r>
          </a:p>
          <a:p>
            <a:pPr marL="285750" indent="-285750">
              <a:buFont typeface="Arial" panose="020B0604020202020204" pitchFamily="34" charset="0"/>
              <a:buChar char="•"/>
            </a:pPr>
            <a:r>
              <a:rPr lang="en-GB" sz="1400" dirty="0" smtClean="0"/>
              <a:t>Relation between Anne and Sarah deteriorating; Marlborough finally sacked for ominous reasons. </a:t>
            </a:r>
          </a:p>
          <a:p>
            <a:endParaRPr lang="en-GB" sz="1400" dirty="0" smtClean="0"/>
          </a:p>
          <a:p>
            <a:r>
              <a:rPr lang="en-US" sz="1400" b="1" dirty="0" smtClean="0"/>
              <a:t>Old Age (1712 </a:t>
            </a:r>
            <a:r>
              <a:rPr lang="en-US" sz="1400" b="1" dirty="0"/>
              <a:t>- </a:t>
            </a:r>
            <a:r>
              <a:rPr lang="en-US" sz="1400" b="1" dirty="0" smtClean="0"/>
              <a:t>1722)</a:t>
            </a:r>
            <a:endParaRPr lang="en-US" sz="1400" dirty="0"/>
          </a:p>
          <a:p>
            <a:pPr marL="285750" indent="-285750">
              <a:buFont typeface="Arial" panose="020B0604020202020204" pitchFamily="34" charset="0"/>
              <a:buChar char="•"/>
            </a:pPr>
            <a:r>
              <a:rPr lang="en-US" sz="1400" dirty="0" smtClean="0"/>
              <a:t>Two years in exile; reappointment to several titles by George I</a:t>
            </a:r>
          </a:p>
          <a:p>
            <a:pPr marL="285750" indent="-285750">
              <a:buFont typeface="Arial" panose="020B0604020202020204" pitchFamily="34" charset="0"/>
              <a:buChar char="•"/>
            </a:pPr>
            <a:r>
              <a:rPr lang="en-US" sz="1400" dirty="0" smtClean="0"/>
              <a:t>Defeating the 1715 </a:t>
            </a:r>
            <a:r>
              <a:rPr lang="en-US" sz="1400" dirty="0" err="1" smtClean="0"/>
              <a:t>Jacobite</a:t>
            </a:r>
            <a:r>
              <a:rPr lang="en-US" sz="1400" dirty="0" smtClean="0"/>
              <a:t> rising.</a:t>
            </a:r>
          </a:p>
          <a:p>
            <a:pPr marL="285750" indent="-285750">
              <a:buFont typeface="Arial" panose="020B0604020202020204" pitchFamily="34" charset="0"/>
              <a:buChar char="•"/>
            </a:pPr>
            <a:r>
              <a:rPr lang="en-US" sz="1400" dirty="0" smtClean="0"/>
              <a:t>Death on 16 June 1722 after several strokes.</a:t>
            </a:r>
            <a:endParaRPr lang="en-US" sz="1400" dirty="0"/>
          </a:p>
          <a:p>
            <a:endParaRPr lang="en-GB" sz="1400" dirty="0" smtClean="0"/>
          </a:p>
        </p:txBody>
      </p:sp>
    </p:spTree>
    <p:extLst>
      <p:ext uri="{BB962C8B-B14F-4D97-AF65-F5344CB8AC3E}">
        <p14:creationId xmlns:p14="http://schemas.microsoft.com/office/powerpoint/2010/main" val="31481672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4554517" cy="646331"/>
          </a:xfrm>
          <a:prstGeom prst="rect">
            <a:avLst/>
          </a:prstGeom>
          <a:noFill/>
        </p:spPr>
        <p:txBody>
          <a:bodyPr wrap="none" rtlCol="0">
            <a:spAutoFit/>
          </a:bodyPr>
          <a:lstStyle/>
          <a:p>
            <a:r>
              <a:rPr lang="en-GB" sz="3600" dirty="0">
                <a:solidFill>
                  <a:prstClr val="black"/>
                </a:solidFill>
              </a:rPr>
              <a:t>Early </a:t>
            </a:r>
            <a:r>
              <a:rPr lang="en-GB" sz="3600" dirty="0" smtClean="0">
                <a:solidFill>
                  <a:prstClr val="black"/>
                </a:solidFill>
              </a:rPr>
              <a:t>Life (1650 – 1678)</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10</a:t>
            </a:fld>
            <a:endParaRPr lang="de-DE"/>
          </a:p>
        </p:txBody>
      </p:sp>
      <p:sp>
        <p:nvSpPr>
          <p:cNvPr id="8" name="Rechteck 7"/>
          <p:cNvSpPr/>
          <p:nvPr/>
        </p:nvSpPr>
        <p:spPr>
          <a:xfrm>
            <a:off x="395536" y="1164134"/>
            <a:ext cx="8493328" cy="5693866"/>
          </a:xfrm>
          <a:prstGeom prst="rect">
            <a:avLst/>
          </a:prstGeom>
        </p:spPr>
        <p:txBody>
          <a:bodyPr wrap="square">
            <a:spAutoFit/>
          </a:bodyPr>
          <a:lstStyle/>
          <a:p>
            <a:pPr marL="285750" indent="-285750">
              <a:buFont typeface="Arial" panose="020B0604020202020204" pitchFamily="34" charset="0"/>
              <a:buChar char="•"/>
            </a:pPr>
            <a:r>
              <a:rPr lang="en-GB" sz="1400" dirty="0" smtClean="0"/>
              <a:t>Churchill’s father was Sir Winston Churchill, a former Royalist Captain, noble but poor. John is brought up a protestant</a:t>
            </a:r>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r>
              <a:rPr lang="en-GB" sz="1400" dirty="0" smtClean="0"/>
              <a:t>John </a:t>
            </a:r>
            <a:r>
              <a:rPr lang="en-GB" sz="1400" dirty="0"/>
              <a:t>Churchill </a:t>
            </a:r>
            <a:r>
              <a:rPr lang="en-GB" sz="1400" dirty="0" smtClean="0"/>
              <a:t>lives </a:t>
            </a:r>
            <a:r>
              <a:rPr lang="en-GB" sz="1400" dirty="0"/>
              <a:t>in Dublin from 1661 till </a:t>
            </a:r>
            <a:r>
              <a:rPr lang="en-GB" sz="1400" dirty="0" smtClean="0"/>
              <a:t>1664 when his father, Sir Winston Churchill, is appointed as a Commissioner for Irish Land Claims in Dublin.</a:t>
            </a:r>
            <a:br>
              <a:rPr lang="en-GB" sz="1400" dirty="0" smtClean="0"/>
            </a:br>
            <a:endParaRPr lang="en-GB" sz="1400" dirty="0" smtClean="0"/>
          </a:p>
          <a:p>
            <a:pPr marL="285750" indent="-285750">
              <a:buFont typeface="Arial" panose="020B0604020202020204" pitchFamily="34" charset="0"/>
              <a:buChar char="•"/>
            </a:pPr>
            <a:r>
              <a:rPr lang="en-GB" sz="1400" dirty="0" smtClean="0"/>
              <a:t>At 15, John becomes page to James, Duke of York, husband of Anne Hyde, whose Maid of Honour was John’s sister.</a:t>
            </a:r>
            <a:br>
              <a:rPr lang="en-GB" sz="1400" dirty="0" smtClean="0"/>
            </a:br>
            <a:endParaRPr lang="en-GB" sz="1400" dirty="0" smtClean="0"/>
          </a:p>
          <a:p>
            <a:pPr marL="285750" indent="-285750">
              <a:buFont typeface="Arial" panose="020B0604020202020204" pitchFamily="34" charset="0"/>
              <a:buChar char="•"/>
            </a:pPr>
            <a:r>
              <a:rPr lang="en-GB" sz="1400" dirty="0" smtClean="0"/>
              <a:t>In 1670 he goes to the Mediterranean (and possibly to Tangier) under the orders of Sir Thomas Allen.</a:t>
            </a:r>
            <a:br>
              <a:rPr lang="en-GB" sz="1400" dirty="0" smtClean="0"/>
            </a:br>
            <a:endParaRPr lang="en-GB" sz="1400" dirty="0" smtClean="0"/>
          </a:p>
          <a:p>
            <a:pPr marL="285750" indent="-285750">
              <a:buFont typeface="Arial" panose="020B0604020202020204" pitchFamily="34" charset="0"/>
              <a:buChar char="•"/>
            </a:pPr>
            <a:r>
              <a:rPr lang="en-GB" sz="1400" dirty="0" smtClean="0"/>
              <a:t>He becomes a lover of Barbara Villiers and (very likely) fathered a child, Barbara </a:t>
            </a:r>
            <a:r>
              <a:rPr lang="en-GB" sz="1400" dirty="0" err="1" smtClean="0"/>
              <a:t>FitzRoy</a:t>
            </a:r>
            <a:r>
              <a:rPr lang="en-GB" sz="1400" dirty="0" smtClean="0"/>
              <a:t>, who would become a Benedictine nun.</a:t>
            </a:r>
            <a:br>
              <a:rPr lang="en-GB" sz="1400" dirty="0" smtClean="0"/>
            </a:br>
            <a:endParaRPr lang="en-GB" sz="1400" dirty="0" smtClean="0"/>
          </a:p>
          <a:p>
            <a:pPr marL="285750" indent="-285750">
              <a:buFont typeface="Arial" panose="020B0604020202020204" pitchFamily="34" charset="0"/>
              <a:buChar char="•"/>
            </a:pPr>
            <a:r>
              <a:rPr lang="en-GB" sz="1400" dirty="0" smtClean="0"/>
              <a:t>Churchill fought </a:t>
            </a:r>
            <a:r>
              <a:rPr lang="en-GB" sz="1400" dirty="0"/>
              <a:t>as a </a:t>
            </a:r>
            <a:r>
              <a:rPr lang="en-GB" sz="1400" dirty="0" smtClean="0"/>
              <a:t>lieutenant in the Battle of </a:t>
            </a:r>
            <a:r>
              <a:rPr lang="en-GB" sz="1400" dirty="0" err="1" smtClean="0"/>
              <a:t>Solebay</a:t>
            </a:r>
            <a:r>
              <a:rPr lang="en-GB" sz="1400" dirty="0" smtClean="0"/>
              <a:t> (28 May 1672) alongside the French against the Dutch. He promoted to a captaincy in the Duke of York’s Admiralty Regiment.</a:t>
            </a:r>
            <a:br>
              <a:rPr lang="en-GB" sz="1400" dirty="0" smtClean="0"/>
            </a:br>
            <a:endParaRPr lang="en-GB" sz="1400" dirty="0" smtClean="0"/>
          </a:p>
          <a:p>
            <a:pPr marL="285750" indent="-285750">
              <a:buFont typeface="Arial" panose="020B0604020202020204" pitchFamily="34" charset="0"/>
              <a:buChar char="•"/>
            </a:pPr>
            <a:r>
              <a:rPr lang="en-GB" sz="1400" dirty="0" smtClean="0"/>
              <a:t>He gained a commendation at the siege of Maastricht (June 1673, surrender of  the Dutch) and is credited with saving the Duke of Monmouth’s life. For that, he was praised by the House of Stuart and the House of Bourbon. </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smtClean="0"/>
              <a:t>He participated in Franco-Dutch war in 1674, serving with and learning from the French Marshal Henri de Turenne. Battles fought: </a:t>
            </a:r>
            <a:r>
              <a:rPr lang="en-GB" sz="1400" dirty="0" err="1" smtClean="0"/>
              <a:t>Sinsheim</a:t>
            </a:r>
            <a:r>
              <a:rPr lang="en-GB" sz="1400" dirty="0" smtClean="0"/>
              <a:t> (June 1674), </a:t>
            </a:r>
            <a:r>
              <a:rPr lang="en-GB" sz="1400" dirty="0" err="1" smtClean="0"/>
              <a:t>Enzheim</a:t>
            </a:r>
            <a:r>
              <a:rPr lang="en-GB" sz="1400" dirty="0" smtClean="0"/>
              <a:t> (October 1674), </a:t>
            </a:r>
            <a:r>
              <a:rPr lang="en-GB" sz="1400" dirty="0" err="1" smtClean="0"/>
              <a:t>Sasbach</a:t>
            </a:r>
            <a:r>
              <a:rPr lang="en-GB" sz="1400" dirty="0" smtClean="0"/>
              <a:t> (July 1675).</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smtClean="0"/>
              <a:t>Churchill returned in 1675, met Sarah Jennings and married her in the winter of 1677/1678. They had seven children (two boys and five girls).</a:t>
            </a:r>
            <a:endParaRPr lang="en-GB" sz="1400" dirty="0"/>
          </a:p>
        </p:txBody>
      </p:sp>
    </p:spTree>
    <p:extLst>
      <p:ext uri="{BB962C8B-B14F-4D97-AF65-F5344CB8AC3E}">
        <p14:creationId xmlns:p14="http://schemas.microsoft.com/office/powerpoint/2010/main" val="37730760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11</a:t>
            </a:fld>
            <a:endParaRPr lang="de-DE"/>
          </a:p>
        </p:txBody>
      </p:sp>
      <p:pic>
        <p:nvPicPr>
          <p:cNvPr id="2" name="Grafik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8466" y="0"/>
            <a:ext cx="5654137" cy="6858000"/>
          </a:xfrm>
          <a:prstGeom prst="rect">
            <a:avLst/>
          </a:prstGeom>
        </p:spPr>
      </p:pic>
      <p:sp>
        <p:nvSpPr>
          <p:cNvPr id="9" name="Textfeld 8"/>
          <p:cNvSpPr txBox="1"/>
          <p:nvPr/>
        </p:nvSpPr>
        <p:spPr>
          <a:xfrm>
            <a:off x="251520" y="332656"/>
            <a:ext cx="1609543" cy="646331"/>
          </a:xfrm>
          <a:prstGeom prst="rect">
            <a:avLst/>
          </a:prstGeom>
          <a:noFill/>
        </p:spPr>
        <p:txBody>
          <a:bodyPr wrap="none" rtlCol="0">
            <a:spAutoFit/>
          </a:bodyPr>
          <a:lstStyle/>
          <a:p>
            <a:r>
              <a:rPr lang="en-US" dirty="0"/>
              <a:t>John Churchill, </a:t>
            </a:r>
            <a:endParaRPr lang="en-US" dirty="0" smtClean="0"/>
          </a:p>
          <a:p>
            <a:r>
              <a:rPr lang="en-US" dirty="0" smtClean="0"/>
              <a:t>in 1685 </a:t>
            </a:r>
            <a:endParaRPr lang="de-DE" dirty="0"/>
          </a:p>
        </p:txBody>
      </p:sp>
    </p:spTree>
    <p:extLst>
      <p:ext uri="{BB962C8B-B14F-4D97-AF65-F5344CB8AC3E}">
        <p14:creationId xmlns:p14="http://schemas.microsoft.com/office/powerpoint/2010/main" val="17819723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8755410" cy="646331"/>
          </a:xfrm>
          <a:prstGeom prst="rect">
            <a:avLst/>
          </a:prstGeom>
          <a:noFill/>
        </p:spPr>
        <p:txBody>
          <a:bodyPr wrap="none" rtlCol="0">
            <a:spAutoFit/>
          </a:bodyPr>
          <a:lstStyle/>
          <a:p>
            <a:r>
              <a:rPr lang="en-GB" sz="3600" dirty="0" smtClean="0">
                <a:solidFill>
                  <a:prstClr val="black"/>
                </a:solidFill>
              </a:rPr>
              <a:t>Serving </a:t>
            </a:r>
            <a:r>
              <a:rPr lang="en-GB" sz="3600" dirty="0">
                <a:solidFill>
                  <a:prstClr val="black"/>
                </a:solidFill>
              </a:rPr>
              <a:t>the Duke of </a:t>
            </a:r>
            <a:r>
              <a:rPr lang="en-GB" sz="3600" dirty="0" smtClean="0">
                <a:solidFill>
                  <a:prstClr val="black"/>
                </a:solidFill>
              </a:rPr>
              <a:t>York/James </a:t>
            </a:r>
            <a:r>
              <a:rPr lang="en-GB" sz="3600" dirty="0">
                <a:solidFill>
                  <a:prstClr val="black"/>
                </a:solidFill>
              </a:rPr>
              <a:t>(</a:t>
            </a:r>
            <a:r>
              <a:rPr lang="en-GB" sz="3600" dirty="0" smtClean="0">
                <a:solidFill>
                  <a:prstClr val="black"/>
                </a:solidFill>
              </a:rPr>
              <a:t>1678 – 1688)</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12</a:t>
            </a:fld>
            <a:endParaRPr lang="de-DE"/>
          </a:p>
        </p:txBody>
      </p:sp>
      <p:sp>
        <p:nvSpPr>
          <p:cNvPr id="8" name="Rechteck 7"/>
          <p:cNvSpPr/>
          <p:nvPr/>
        </p:nvSpPr>
        <p:spPr>
          <a:xfrm>
            <a:off x="323528" y="1412776"/>
            <a:ext cx="8240513" cy="5047536"/>
          </a:xfrm>
          <a:prstGeom prst="rect">
            <a:avLst/>
          </a:prstGeom>
        </p:spPr>
        <p:txBody>
          <a:bodyPr wrap="square">
            <a:spAutoFit/>
          </a:bodyPr>
          <a:lstStyle/>
          <a:p>
            <a:pPr marL="285750" indent="-285750">
              <a:buFont typeface="Arial" panose="020B0604020202020204" pitchFamily="34" charset="0"/>
              <a:buChar char="•"/>
            </a:pPr>
            <a:r>
              <a:rPr lang="en-US" sz="1400" dirty="0" smtClean="0"/>
              <a:t>In April 1678 John Churchill and Sidney Godolphin negotiate a convention about the deployment of English troops in Flanders. They meet William, Prince of Orange, who is highly impressed by Churchill.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After the Popish Plot in 1678, the Duke of York was exiled until 1682. Churchill was asked (or obliged?)  to accompany him to the Hague, then to Brussels and Edinburgh. In return Churchill was made Lord Churchill of </a:t>
            </a:r>
            <a:r>
              <a:rPr lang="en-US" sz="1400" dirty="0" err="1" smtClean="0"/>
              <a:t>Eyemouth</a:t>
            </a:r>
            <a:r>
              <a:rPr lang="en-US" sz="1400" dirty="0" smtClean="0"/>
              <a:t> and appointed colonel of the King’s own Regiment of Dragoons. He had now a decent income and could afford a comfortable country life.</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smtClean="0"/>
              <a:t>On James’s succession in 1685, Churchill was appointed governor of the Hudson Bay Company and got a seat in the House of Lords as Baron Churchill of </a:t>
            </a:r>
            <a:r>
              <a:rPr lang="en-US" sz="1400" dirty="0" err="1" smtClean="0"/>
              <a:t>Sandridge</a:t>
            </a:r>
            <a:r>
              <a:rPr lang="en-US" sz="1400" dirty="0" smtClean="0"/>
              <a:t>.</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smtClean="0"/>
              <a:t>The  Battle of Sedgemoor (6 July 1685) against Monmouth’s troops was not his most spectacular victory, but his first. Much of the praise went to the official leader Earl of </a:t>
            </a:r>
            <a:r>
              <a:rPr lang="en-US" sz="1400" dirty="0" err="1" smtClean="0"/>
              <a:t>Faversham</a:t>
            </a:r>
            <a:r>
              <a:rPr lang="en-US" sz="1400" dirty="0" smtClean="0"/>
              <a:t>, loyal but limited. Subsequent ferocities against Monmouth and his followers instigated by judge </a:t>
            </a:r>
            <a:r>
              <a:rPr lang="en-US" sz="1400" dirty="0" err="1" smtClean="0"/>
              <a:t>Jeffreys</a:t>
            </a:r>
            <a:r>
              <a:rPr lang="en-US" sz="1400" dirty="0" smtClean="0"/>
              <a:t> set in train a process of disillusion.</a:t>
            </a:r>
          </a:p>
          <a:p>
            <a:pPr marL="285750" indent="-285750">
              <a:buFont typeface="Arial" panose="020B0604020202020204" pitchFamily="34" charset="0"/>
              <a:buChar char="•"/>
            </a:pPr>
            <a:endParaRPr lang="en-US" sz="1400" dirty="0" smtClean="0"/>
          </a:p>
          <a:p>
            <a:pPr marL="285750" indent="-285750">
              <a:buFont typeface="Arial" panose="020B0604020202020204" pitchFamily="34" charset="0"/>
              <a:buChar char="•"/>
            </a:pPr>
            <a:r>
              <a:rPr lang="en-US" sz="1400" dirty="0" smtClean="0"/>
              <a:t>Churchill’s stance was this: If the King should attempt to change our religion, I will instantly quit his services.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Churchill deserted James on 24 November 1688, leaving behind a letter of apology and self-justification. It was the death-blow for the Royal Cause.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But James II was the man </a:t>
            </a:r>
            <a:r>
              <a:rPr lang="en-US" sz="1400" dirty="0"/>
              <a:t>to whom </a:t>
            </a:r>
            <a:r>
              <a:rPr lang="en-US" sz="1400" dirty="0" smtClean="0"/>
              <a:t>Churchill owed </a:t>
            </a:r>
            <a:r>
              <a:rPr lang="en-US" sz="1400" dirty="0"/>
              <a:t>virtually everything in his life and </a:t>
            </a:r>
            <a:r>
              <a:rPr lang="en-US" sz="1400" dirty="0" smtClean="0"/>
              <a:t>career.</a:t>
            </a:r>
            <a:endParaRPr lang="de-DE" sz="1400" dirty="0"/>
          </a:p>
        </p:txBody>
      </p:sp>
    </p:spTree>
    <p:extLst>
      <p:ext uri="{BB962C8B-B14F-4D97-AF65-F5344CB8AC3E}">
        <p14:creationId xmlns:p14="http://schemas.microsoft.com/office/powerpoint/2010/main" val="7096335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8140498" cy="646331"/>
          </a:xfrm>
          <a:prstGeom prst="rect">
            <a:avLst/>
          </a:prstGeom>
          <a:noFill/>
        </p:spPr>
        <p:txBody>
          <a:bodyPr wrap="none" rtlCol="0">
            <a:spAutoFit/>
          </a:bodyPr>
          <a:lstStyle/>
          <a:p>
            <a:r>
              <a:rPr lang="en-GB" sz="3600" dirty="0" smtClean="0">
                <a:solidFill>
                  <a:prstClr val="black"/>
                </a:solidFill>
              </a:rPr>
              <a:t>Serving William III and Mary (1688 – 1702)</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13</a:t>
            </a:fld>
            <a:endParaRPr lang="de-DE"/>
          </a:p>
        </p:txBody>
      </p:sp>
      <p:sp>
        <p:nvSpPr>
          <p:cNvPr id="8" name="Rechteck 7"/>
          <p:cNvSpPr/>
          <p:nvPr/>
        </p:nvSpPr>
        <p:spPr>
          <a:xfrm>
            <a:off x="323528" y="1273219"/>
            <a:ext cx="8640960" cy="5047536"/>
          </a:xfrm>
          <a:prstGeom prst="rect">
            <a:avLst/>
          </a:prstGeom>
        </p:spPr>
        <p:txBody>
          <a:bodyPr wrap="square">
            <a:spAutoFit/>
          </a:bodyPr>
          <a:lstStyle/>
          <a:p>
            <a:pPr marL="285750" indent="-285750">
              <a:buFont typeface="Arial" panose="020B0604020202020204" pitchFamily="34" charset="0"/>
              <a:buChar char="•"/>
            </a:pPr>
            <a:r>
              <a:rPr lang="en-US" sz="1400" dirty="0" smtClean="0"/>
              <a:t>William entertained reservations about Churchill, now earl of Marlborough, the man who had deserted James.</a:t>
            </a:r>
            <a:br>
              <a:rPr lang="en-US" sz="1400" dirty="0" smtClean="0"/>
            </a:br>
            <a:r>
              <a:rPr lang="en-US" sz="1400" dirty="0" smtClean="0"/>
              <a:t>William </a:t>
            </a:r>
            <a:r>
              <a:rPr lang="en-US" sz="1400" dirty="0"/>
              <a:t>and Mary distrusted Marlborough's and his wife’s influence on Princess Anne. Mary disgusted him.</a:t>
            </a:r>
          </a:p>
          <a:p>
            <a:pPr marL="285750" indent="-285750">
              <a:buFont typeface="Arial" panose="020B0604020202020204" pitchFamily="34" charset="0"/>
              <a:buChar char="•"/>
            </a:pPr>
            <a:endParaRPr lang="en-US" sz="1400" i="1" dirty="0"/>
          </a:p>
          <a:p>
            <a:pPr marL="285750" indent="-285750">
              <a:buFont typeface="Arial" panose="020B0604020202020204" pitchFamily="34" charset="0"/>
              <a:buChar char="•"/>
            </a:pPr>
            <a:r>
              <a:rPr lang="en-US" sz="1400" dirty="0" smtClean="0"/>
              <a:t>Churchill saw only three years in the field of the Nine Years War. After the Battle of the Boyne (1 July 1690) Marlborough left himself for Ireland and took Cork (27 September) and Kinsale (15 October), thus disrupting James’s supply routes.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But William who favored Dutch commanders failed to award Marlborough the Order of the Garter nor was he appointed Master-General of the Ordonnance. William and Marlborough were on bad terms, also due to Marlborough’s contact with James. Marlborough was anxious to obtain pardon for his desertion.</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In January 1692, Mary ordered her sister Anne to dismiss Sarah from her household, and Marlborough was sacked and forbidden the court.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Young’s letters, inviting James to come back and purporting the seizure of William. They turned out to be a forgery, but Marlborough spend five weeks in the Tower (4 May – 15 June 1692).</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The landing at the </a:t>
            </a:r>
            <a:r>
              <a:rPr lang="en-US" sz="1400" dirty="0" err="1" smtClean="0"/>
              <a:t>Camaret</a:t>
            </a:r>
            <a:r>
              <a:rPr lang="en-US" sz="1400" dirty="0" smtClean="0"/>
              <a:t> Bay (18 June 1694) was a complete disaster for the English and Dutch; Marlborough was accused of having warned the French by the </a:t>
            </a:r>
            <a:r>
              <a:rPr lang="en-US" sz="1400" dirty="0" err="1" smtClean="0"/>
              <a:t>Camaret</a:t>
            </a:r>
            <a:r>
              <a:rPr lang="en-US" sz="1400" dirty="0" smtClean="0"/>
              <a:t> letter. New accusations came up in 1696 (John Fenwick)</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Marlborough represented the sick William in The Hague, negotiating the Treaty of the Second Great Alliance (7 September 1701) against France, signed by England, Austria and the Dutch Republic. </a:t>
            </a:r>
            <a:endParaRPr lang="de-DE" sz="1400" dirty="0"/>
          </a:p>
        </p:txBody>
      </p:sp>
    </p:spTree>
    <p:extLst>
      <p:ext uri="{BB962C8B-B14F-4D97-AF65-F5344CB8AC3E}">
        <p14:creationId xmlns:p14="http://schemas.microsoft.com/office/powerpoint/2010/main" val="21174398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14</a:t>
            </a:fld>
            <a:endParaRPr lang="de-DE"/>
          </a:p>
        </p:txBody>
      </p:sp>
      <p:sp>
        <p:nvSpPr>
          <p:cNvPr id="9" name="Textfeld 8"/>
          <p:cNvSpPr txBox="1"/>
          <p:nvPr/>
        </p:nvSpPr>
        <p:spPr>
          <a:xfrm>
            <a:off x="1125960" y="6093296"/>
            <a:ext cx="7560840" cy="369332"/>
          </a:xfrm>
          <a:prstGeom prst="rect">
            <a:avLst/>
          </a:prstGeom>
          <a:noFill/>
        </p:spPr>
        <p:txBody>
          <a:bodyPr wrap="square" rtlCol="0">
            <a:spAutoFit/>
          </a:bodyPr>
          <a:lstStyle/>
          <a:p>
            <a:r>
              <a:rPr lang="en-US" dirty="0" smtClean="0"/>
              <a:t>Marlborough writing a dispatch to his wife after the battle of Blenheim </a:t>
            </a:r>
            <a:endParaRPr lang="de-DE" dirty="0"/>
          </a:p>
        </p:txBody>
      </p:sp>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2812" y="-1"/>
            <a:ext cx="7727748" cy="5834449"/>
          </a:xfrm>
          <a:prstGeom prst="rect">
            <a:avLst/>
          </a:prstGeom>
        </p:spPr>
      </p:pic>
    </p:spTree>
    <p:extLst>
      <p:ext uri="{BB962C8B-B14F-4D97-AF65-F5344CB8AC3E}">
        <p14:creationId xmlns:p14="http://schemas.microsoft.com/office/powerpoint/2010/main" val="37224834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6700360" cy="646331"/>
          </a:xfrm>
          <a:prstGeom prst="rect">
            <a:avLst/>
          </a:prstGeom>
          <a:noFill/>
        </p:spPr>
        <p:txBody>
          <a:bodyPr wrap="none" rtlCol="0">
            <a:spAutoFit/>
          </a:bodyPr>
          <a:lstStyle/>
          <a:p>
            <a:r>
              <a:rPr lang="en-GB" sz="3600" dirty="0" smtClean="0">
                <a:solidFill>
                  <a:prstClr val="black"/>
                </a:solidFill>
              </a:rPr>
              <a:t>Serving Queen Anne (1702 – 1707)</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15</a:t>
            </a:fld>
            <a:endParaRPr lang="de-DE"/>
          </a:p>
        </p:txBody>
      </p:sp>
      <p:sp>
        <p:nvSpPr>
          <p:cNvPr id="8" name="Rechteck 7"/>
          <p:cNvSpPr/>
          <p:nvPr/>
        </p:nvSpPr>
        <p:spPr>
          <a:xfrm>
            <a:off x="363935" y="1484784"/>
            <a:ext cx="8493328" cy="5262979"/>
          </a:xfrm>
          <a:prstGeom prst="rect">
            <a:avLst/>
          </a:prstGeom>
        </p:spPr>
        <p:txBody>
          <a:bodyPr wrap="square">
            <a:spAutoFit/>
          </a:bodyPr>
          <a:lstStyle/>
          <a:p>
            <a:pPr marL="285750" indent="-285750">
              <a:buFont typeface="Arial" panose="020B0604020202020204" pitchFamily="34" charset="0"/>
              <a:buChar char="•"/>
            </a:pPr>
            <a:r>
              <a:rPr lang="en-GB" sz="1400" dirty="0" smtClean="0"/>
              <a:t>Marlborough and his wife were lavished with titles, had 60.000 pounds per year and unrivalled influence.</a:t>
            </a:r>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r>
              <a:rPr lang="en-GB" sz="1400" dirty="0" smtClean="0"/>
              <a:t>The War of the Spanish Succession began (4 May 1702). Marlborough was commander in chief of the allied forces. Some early successes (e.g. Venlo, </a:t>
            </a:r>
            <a:r>
              <a:rPr lang="en-GB" sz="1400" dirty="0" err="1" smtClean="0"/>
              <a:t>Roermond</a:t>
            </a:r>
            <a:r>
              <a:rPr lang="en-GB" sz="1400" dirty="0" smtClean="0"/>
              <a:t>, </a:t>
            </a:r>
            <a:r>
              <a:rPr lang="en-GB" sz="1400" dirty="0" err="1" smtClean="0"/>
              <a:t>Stevenswert</a:t>
            </a:r>
            <a:r>
              <a:rPr lang="en-GB" sz="1400" dirty="0" smtClean="0"/>
              <a:t>, Liege, Bonn).</a:t>
            </a:r>
          </a:p>
          <a:p>
            <a:endParaRPr lang="en-GB" sz="1400" dirty="0" smtClean="0"/>
          </a:p>
          <a:p>
            <a:pPr marL="285750" indent="-285750">
              <a:buFont typeface="Arial" panose="020B0604020202020204" pitchFamily="34" charset="0"/>
              <a:buChar char="•"/>
            </a:pPr>
            <a:r>
              <a:rPr lang="en-GB" sz="1400" dirty="0" smtClean="0"/>
              <a:t>Limited success in 1703, defeat at the battle of </a:t>
            </a:r>
            <a:r>
              <a:rPr lang="en-GB" sz="1400" dirty="0" err="1" smtClean="0"/>
              <a:t>Eckeren</a:t>
            </a:r>
            <a:r>
              <a:rPr lang="en-GB" sz="1400" dirty="0" smtClean="0"/>
              <a:t> (30 June 1703). Dispute between Tories (emphasizing the role of the Navy) and Marlborough/Whigs (Continental strategy). Thanks to the Whigs (Godolphin) Marlborough had plenty of money.</a:t>
            </a:r>
            <a:br>
              <a:rPr lang="en-GB" sz="1400" dirty="0" smtClean="0"/>
            </a:br>
            <a:endParaRPr lang="en-GB" sz="1400" dirty="0" smtClean="0"/>
          </a:p>
          <a:p>
            <a:pPr marL="285750" indent="-285750">
              <a:buFont typeface="Arial" panose="020B0604020202020204" pitchFamily="34" charset="0"/>
              <a:buChar char="•"/>
            </a:pPr>
            <a:r>
              <a:rPr lang="en-GB" sz="1400" dirty="0" smtClean="0"/>
              <a:t>Marlborough won the Battle of Blenheim (14 August 1704) after an logistic feat (march over 300 </a:t>
            </a:r>
            <a:r>
              <a:rPr lang="en-GB" sz="1400" dirty="0" err="1" smtClean="0"/>
              <a:t>mls</a:t>
            </a:r>
            <a:r>
              <a:rPr lang="en-GB" sz="1400" dirty="0" smtClean="0"/>
              <a:t>), duping the Dutch. The French were frustrated; Marlborough was awarded the royal manor of Woodstock, to become Blenheim Palace. </a:t>
            </a:r>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r>
              <a:rPr lang="en-GB" sz="1400" dirty="0" smtClean="0"/>
              <a:t>But in 1705 things didn’t go well. A planned invasion of France didn’t take place, Marlborough’s success was considered a lucky strike. Relations between Anne (Tories) and Sarah (Whigs) deteriorated. </a:t>
            </a:r>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r>
              <a:rPr lang="en-GB" sz="1400" dirty="0" smtClean="0"/>
              <a:t>1706 saw the victory of Ramillies (23 May 1706) and the French defeat at Turin (September 1706) by Prince Eugene. This was grist to the mill of the Whigs, with the earl of Sunderland made Secretary of State. </a:t>
            </a:r>
            <a:r>
              <a:rPr lang="en-GB" sz="1400" dirty="0" err="1" smtClean="0"/>
              <a:t>Abigal</a:t>
            </a:r>
            <a:r>
              <a:rPr lang="en-GB" sz="1400" dirty="0" smtClean="0"/>
              <a:t> </a:t>
            </a:r>
            <a:r>
              <a:rPr lang="en-GB" sz="1400" dirty="0" err="1" smtClean="0"/>
              <a:t>Masham</a:t>
            </a:r>
            <a:r>
              <a:rPr lang="en-GB" sz="1400" dirty="0" smtClean="0"/>
              <a:t> effectively replaced Sarah, Richard Harley became Anne’s adviser.</a:t>
            </a:r>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r>
              <a:rPr lang="en-GB" sz="1400" dirty="0" smtClean="0"/>
              <a:t>1707 was again a bad year: setbacks in Spain at </a:t>
            </a:r>
            <a:r>
              <a:rPr lang="en-GB" sz="1400" dirty="0" err="1" smtClean="0"/>
              <a:t>Alanza</a:t>
            </a:r>
            <a:r>
              <a:rPr lang="en-GB" sz="1400" dirty="0" smtClean="0"/>
              <a:t> and along the Rhine, Prince Eugene retreated from Toulon. Even so Henry Boyle (Whig) replaced Harley, Robert Walpole (Whig) became Secretary at War, much to the displeasure of the Queen.</a:t>
            </a:r>
            <a:endParaRPr lang="en-US" sz="1400" dirty="0" smtClean="0"/>
          </a:p>
          <a:p>
            <a:endParaRPr lang="de-DE" sz="1400" dirty="0"/>
          </a:p>
        </p:txBody>
      </p:sp>
    </p:spTree>
    <p:extLst>
      <p:ext uri="{BB962C8B-B14F-4D97-AF65-F5344CB8AC3E}">
        <p14:creationId xmlns:p14="http://schemas.microsoft.com/office/powerpoint/2010/main" val="11075582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6700360" cy="646331"/>
          </a:xfrm>
          <a:prstGeom prst="rect">
            <a:avLst/>
          </a:prstGeom>
          <a:noFill/>
        </p:spPr>
        <p:txBody>
          <a:bodyPr wrap="none" rtlCol="0">
            <a:spAutoFit/>
          </a:bodyPr>
          <a:lstStyle/>
          <a:p>
            <a:r>
              <a:rPr lang="en-GB" sz="3600" dirty="0" smtClean="0">
                <a:solidFill>
                  <a:prstClr val="black"/>
                </a:solidFill>
              </a:rPr>
              <a:t>Serving Queen Anne (1708 – 1711)</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16</a:t>
            </a:fld>
            <a:endParaRPr lang="de-DE"/>
          </a:p>
        </p:txBody>
      </p:sp>
      <p:sp>
        <p:nvSpPr>
          <p:cNvPr id="8" name="Rechteck 7"/>
          <p:cNvSpPr/>
          <p:nvPr/>
        </p:nvSpPr>
        <p:spPr>
          <a:xfrm>
            <a:off x="363935" y="1484784"/>
            <a:ext cx="8493328" cy="4616648"/>
          </a:xfrm>
          <a:prstGeom prst="rect">
            <a:avLst/>
          </a:prstGeom>
        </p:spPr>
        <p:txBody>
          <a:bodyPr wrap="square">
            <a:spAutoFit/>
          </a:bodyPr>
          <a:lstStyle/>
          <a:p>
            <a:pPr marL="285750" indent="-285750">
              <a:buFont typeface="Arial" panose="020B0604020202020204" pitchFamily="34" charset="0"/>
              <a:buChar char="•"/>
            </a:pPr>
            <a:r>
              <a:rPr lang="en-GB" sz="1400" dirty="0" smtClean="0"/>
              <a:t>The victory of </a:t>
            </a:r>
            <a:r>
              <a:rPr lang="en-GB" sz="1400" dirty="0" err="1" smtClean="0"/>
              <a:t>Oudenaarde</a:t>
            </a:r>
            <a:r>
              <a:rPr lang="en-GB" sz="1400" dirty="0" smtClean="0"/>
              <a:t> (11 July 1708) demoralised the French who were driven out of almost all the Spanish Netherlands. The Whigs were rising, the Queen distracted by Sarah.</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smtClean="0"/>
              <a:t>Early in 1709, France was on the brink of collapse. Peace talks in The Hague (April 1709) didn’t succeed: No peace without Spain. The ensuing battle of </a:t>
            </a:r>
            <a:r>
              <a:rPr lang="en-GB" sz="1400" dirty="0" err="1" smtClean="0"/>
              <a:t>Malplaquet</a:t>
            </a:r>
            <a:r>
              <a:rPr lang="en-GB" sz="1400" dirty="0" smtClean="0"/>
              <a:t> (9 September 1709) was a Pyrrhic victory with over 24.000 casualties on the side of the Allies. The Tories were quick to criticise Marlborough, much to the pleasure of Queen Anne.</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smtClean="0"/>
              <a:t>In 1710, the Tories won a landslide victory, England was weary. Sunderland and Godolphin were dismissed, Marlborough requested to remain in office until the new government had made their own arrangements for peace.</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smtClean="0"/>
              <a:t>In 1711, Sarah fell into final disgrace. Marlborough’s last feat was the siege of the fortress of </a:t>
            </a:r>
            <a:r>
              <a:rPr lang="en-GB" sz="1400" dirty="0" err="1" smtClean="0"/>
              <a:t>Buchain</a:t>
            </a:r>
            <a:r>
              <a:rPr lang="en-GB" sz="1400" dirty="0" smtClean="0"/>
              <a:t> (12 September 1711). On 29 December 1711 he was dismissed on dubious grounds of having taken money. </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endParaRPr lang="en-GB" sz="1400" dirty="0" smtClean="0"/>
          </a:p>
          <a:p>
            <a:pPr marL="285750" indent="-285750">
              <a:buFont typeface="Arial" panose="020B0604020202020204" pitchFamily="34" charset="0"/>
              <a:buChar char="•"/>
            </a:pPr>
            <a:endParaRPr lang="en-US" sz="1400" dirty="0" smtClean="0"/>
          </a:p>
          <a:p>
            <a:pPr marL="285750" indent="-285750">
              <a:buFont typeface="Arial" panose="020B0604020202020204" pitchFamily="34" charset="0"/>
              <a:buChar char="•"/>
            </a:pPr>
            <a:endParaRPr lang="en-US" sz="1400" dirty="0" smtClean="0"/>
          </a:p>
          <a:p>
            <a:pPr marL="285750" indent="-285750">
              <a:buFont typeface="Arial" panose="020B0604020202020204" pitchFamily="34" charset="0"/>
              <a:buChar char="•"/>
            </a:pPr>
            <a:endParaRPr lang="en-US" sz="1400" dirty="0" smtClean="0"/>
          </a:p>
          <a:p>
            <a:endParaRPr lang="de-DE" sz="1400" dirty="0"/>
          </a:p>
        </p:txBody>
      </p:sp>
    </p:spTree>
    <p:extLst>
      <p:ext uri="{BB962C8B-B14F-4D97-AF65-F5344CB8AC3E}">
        <p14:creationId xmlns:p14="http://schemas.microsoft.com/office/powerpoint/2010/main" val="27635498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p:cNvSpPr txBox="1"/>
          <p:nvPr/>
        </p:nvSpPr>
        <p:spPr>
          <a:xfrm>
            <a:off x="395536" y="404664"/>
            <a:ext cx="4347024" cy="646331"/>
          </a:xfrm>
          <a:prstGeom prst="rect">
            <a:avLst/>
          </a:prstGeom>
          <a:noFill/>
        </p:spPr>
        <p:txBody>
          <a:bodyPr wrap="none" rtlCol="0">
            <a:spAutoFit/>
          </a:bodyPr>
          <a:lstStyle/>
          <a:p>
            <a:r>
              <a:rPr lang="en-GB" sz="3600" dirty="0" smtClean="0">
                <a:solidFill>
                  <a:prstClr val="black"/>
                </a:solidFill>
              </a:rPr>
              <a:t>Old Age (1711 – 1722)</a:t>
            </a:r>
            <a:endParaRPr lang="en-GB" sz="3600" dirty="0">
              <a:solidFill>
                <a:prstClr val="black"/>
              </a:solidFill>
            </a:endParaRPr>
          </a:p>
        </p:txBody>
      </p:sp>
      <p:sp>
        <p:nvSpPr>
          <p:cNvPr id="6" name="Foliennummernplatzhalter 5"/>
          <p:cNvSpPr>
            <a:spLocks noGrp="1"/>
          </p:cNvSpPr>
          <p:nvPr>
            <p:ph type="sldNum" sz="quarter" idx="12"/>
          </p:nvPr>
        </p:nvSpPr>
        <p:spPr/>
        <p:txBody>
          <a:bodyPr/>
          <a:lstStyle/>
          <a:p>
            <a:fld id="{6C6AE60A-B69C-4790-82F7-3882EDF23186}" type="slidenum">
              <a:rPr lang="de-DE" smtClean="0"/>
              <a:t>17</a:t>
            </a:fld>
            <a:endParaRPr lang="de-DE"/>
          </a:p>
        </p:txBody>
      </p:sp>
      <p:sp>
        <p:nvSpPr>
          <p:cNvPr id="8" name="Rechteck 7"/>
          <p:cNvSpPr/>
          <p:nvPr/>
        </p:nvSpPr>
        <p:spPr>
          <a:xfrm>
            <a:off x="363935" y="1484784"/>
            <a:ext cx="8493328" cy="3323987"/>
          </a:xfrm>
          <a:prstGeom prst="rect">
            <a:avLst/>
          </a:prstGeom>
        </p:spPr>
        <p:txBody>
          <a:bodyPr wrap="square">
            <a:spAutoFit/>
          </a:bodyPr>
          <a:lstStyle/>
          <a:p>
            <a:pPr marL="285750" indent="-285750">
              <a:buFont typeface="Arial" panose="020B0604020202020204" pitchFamily="34" charset="0"/>
              <a:buChar char="•"/>
            </a:pPr>
            <a:r>
              <a:rPr lang="en-US" sz="1400" dirty="0" smtClean="0"/>
              <a:t>He </a:t>
            </a:r>
            <a:r>
              <a:rPr lang="en-US" sz="1400" dirty="0"/>
              <a:t>went into exile on 1 December 1712, his fortune in peril, Blenheim Palace </a:t>
            </a:r>
            <a:r>
              <a:rPr lang="en-US" sz="1400" dirty="0" smtClean="0"/>
              <a:t>unfinished, running out of money.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He remained in contact with both the Elector of Hanover and with James. The Queen still retained a personal attachment to him.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He returned to England the day the Queen died (1 August 1714). He was reappointed by George I as Captain-General and was returned several other titles.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He presided over the defeat of the 1715 </a:t>
            </a:r>
            <a:r>
              <a:rPr lang="en-US" sz="1400" dirty="0" err="1" smtClean="0"/>
              <a:t>Jacobite</a:t>
            </a:r>
            <a:r>
              <a:rPr lang="en-US" sz="1400" dirty="0" smtClean="0"/>
              <a:t> rising</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smtClean="0"/>
              <a:t>After 1716 he suffered several strikes. He died on 16 June 1722</a:t>
            </a:r>
          </a:p>
          <a:p>
            <a:pPr marL="285750" indent="-285750">
              <a:buFont typeface="Arial" panose="020B0604020202020204" pitchFamily="34" charset="0"/>
              <a:buChar char="•"/>
            </a:pPr>
            <a:endParaRPr lang="en-US" sz="1400" dirty="0"/>
          </a:p>
          <a:p>
            <a:endParaRPr lang="en-US" sz="1400" dirty="0" smtClean="0"/>
          </a:p>
          <a:p>
            <a:endParaRPr lang="de-DE" sz="1400" dirty="0"/>
          </a:p>
        </p:txBody>
      </p:sp>
    </p:spTree>
    <p:extLst>
      <p:ext uri="{BB962C8B-B14F-4D97-AF65-F5344CB8AC3E}">
        <p14:creationId xmlns:p14="http://schemas.microsoft.com/office/powerpoint/2010/main" val="26914717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6C6AE60A-B69C-4790-82F7-3882EDF23186}" type="slidenum">
              <a:rPr lang="de-DE" smtClean="0"/>
              <a:t>18</a:t>
            </a:fld>
            <a:endParaRPr lang="de-DE"/>
          </a:p>
        </p:txBody>
      </p:sp>
      <p:pic>
        <p:nvPicPr>
          <p:cNvPr id="2" name="Grafik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544" y="260648"/>
            <a:ext cx="7836363" cy="5877272"/>
          </a:xfrm>
          <a:prstGeom prst="rect">
            <a:avLst/>
          </a:prstGeom>
        </p:spPr>
      </p:pic>
      <p:sp>
        <p:nvSpPr>
          <p:cNvPr id="3" name="Rechteck 2"/>
          <p:cNvSpPr/>
          <p:nvPr/>
        </p:nvSpPr>
        <p:spPr>
          <a:xfrm>
            <a:off x="467544" y="6356350"/>
            <a:ext cx="7992888" cy="369332"/>
          </a:xfrm>
          <a:prstGeom prst="rect">
            <a:avLst/>
          </a:prstGeom>
        </p:spPr>
        <p:txBody>
          <a:bodyPr wrap="square">
            <a:spAutoFit/>
          </a:bodyPr>
          <a:lstStyle/>
          <a:p>
            <a:r>
              <a:rPr lang="en-US" dirty="0"/>
              <a:t>Resting place of the Duke and Duchess in the chapel at Blenheim Palace</a:t>
            </a:r>
            <a:endParaRPr lang="en-GB" dirty="0"/>
          </a:p>
        </p:txBody>
      </p:sp>
    </p:spTree>
    <p:extLst>
      <p:ext uri="{BB962C8B-B14F-4D97-AF65-F5344CB8AC3E}">
        <p14:creationId xmlns:p14="http://schemas.microsoft.com/office/powerpoint/2010/main" val="3751522409"/>
      </p:ext>
    </p:extLst>
  </p:cSld>
  <p:clrMapOvr>
    <a:masterClrMapping/>
  </p:clrMapOvr>
  <p:timing>
    <p:tnLst>
      <p:par>
        <p:cTn id="1" dur="indefinite" restart="never" nodeType="tmRoot"/>
      </p:par>
    </p:tnLst>
  </p:timing>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1845</Words>
  <Application>Microsoft Office PowerPoint</Application>
  <PresentationFormat>Bildschirmpräsentation (4:3)</PresentationFormat>
  <Paragraphs>281</Paragraphs>
  <Slides>18</Slides>
  <Notes>14</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Arial</vt:lpstr>
      <vt:lpstr>Calibri</vt:lpstr>
      <vt:lpstr>Larissa-Design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Johannes Siedersleben</dc:creator>
  <cp:lastModifiedBy>Johannes Siedersleben</cp:lastModifiedBy>
  <cp:revision>254</cp:revision>
  <dcterms:created xsi:type="dcterms:W3CDTF">2013-05-24T16:59:53Z</dcterms:created>
  <dcterms:modified xsi:type="dcterms:W3CDTF">2017-07-28T07:14:14Z</dcterms:modified>
</cp:coreProperties>
</file>